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256" r:id="rId2"/>
    <p:sldId id="1233" r:id="rId3"/>
    <p:sldId id="1230" r:id="rId4"/>
    <p:sldId id="274" r:id="rId5"/>
    <p:sldId id="276" r:id="rId6"/>
    <p:sldId id="1235" r:id="rId7"/>
    <p:sldId id="277" r:id="rId8"/>
    <p:sldId id="1236" r:id="rId9"/>
    <p:sldId id="278" r:id="rId10"/>
    <p:sldId id="1234" r:id="rId11"/>
    <p:sldId id="279" r:id="rId12"/>
    <p:sldId id="280" r:id="rId13"/>
    <p:sldId id="275" r:id="rId14"/>
    <p:sldId id="1240" r:id="rId15"/>
    <p:sldId id="298" r:id="rId16"/>
    <p:sldId id="299" r:id="rId17"/>
    <p:sldId id="323" r:id="rId18"/>
    <p:sldId id="300" r:id="rId19"/>
    <p:sldId id="324" r:id="rId20"/>
    <p:sldId id="1241" r:id="rId21"/>
    <p:sldId id="325" r:id="rId22"/>
    <p:sldId id="1242" r:id="rId23"/>
    <p:sldId id="269" r:id="rId24"/>
    <p:sldId id="1238" r:id="rId25"/>
    <p:sldId id="1243" r:id="rId26"/>
    <p:sldId id="1244" r:id="rId27"/>
    <p:sldId id="1245" r:id="rId28"/>
    <p:sldId id="1246" r:id="rId29"/>
    <p:sldId id="1260" r:id="rId30"/>
    <p:sldId id="1261" r:id="rId31"/>
    <p:sldId id="1247" r:id="rId32"/>
    <p:sldId id="1248" r:id="rId33"/>
    <p:sldId id="1249" r:id="rId34"/>
    <p:sldId id="1250" r:id="rId35"/>
    <p:sldId id="1251" r:id="rId36"/>
    <p:sldId id="1252" r:id="rId37"/>
    <p:sldId id="1253" r:id="rId38"/>
    <p:sldId id="1255" r:id="rId39"/>
    <p:sldId id="1254" r:id="rId40"/>
    <p:sldId id="305" r:id="rId41"/>
    <p:sldId id="1257" r:id="rId42"/>
    <p:sldId id="1256" r:id="rId43"/>
    <p:sldId id="1258" r:id="rId44"/>
    <p:sldId id="306" r:id="rId45"/>
    <p:sldId id="1259" r:id="rId46"/>
    <p:sldId id="1263" r:id="rId47"/>
    <p:sldId id="1264" r:id="rId48"/>
    <p:sldId id="1262" r:id="rId49"/>
  </p:sldIdLst>
  <p:sldSz cx="12192000" cy="6858000"/>
  <p:notesSz cx="6858000" cy="9144000"/>
  <p:custDataLst>
    <p:tags r:id="rId52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AEFD49-6523-0809-E41F-E9360D32733C}" name="Jochen Mariën" initials="JM" userId="Jochen Mariën" providerId="None"/>
  <p188:author id="{56006A5D-2BC8-644D-AE5E-6AFA2A293A8E}" name="Ellen Torfs" initials="ET" userId="S::u0068049@thomasmore.be::c6aa1e10-4a12-4511-8c7c-135720d4f27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785"/>
    <a:srgbClr val="4584B6"/>
    <a:srgbClr val="FFDE57"/>
    <a:srgbClr val="646464"/>
    <a:srgbClr val="CC00FF"/>
    <a:srgbClr val="D5AD42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877CDB-1349-415F-AEBE-A4022767ECA0}" v="3" dt="2025-10-17T09:01:48.0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jl, licht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952" autoAdjust="0"/>
  </p:normalViewPr>
  <p:slideViewPr>
    <p:cSldViewPr snapToGrid="0">
      <p:cViewPr varScale="1">
        <p:scale>
          <a:sx n="99" d="100"/>
          <a:sy n="99" d="100"/>
        </p:scale>
        <p:origin x="1032" y="96"/>
      </p:cViewPr>
      <p:guideLst/>
    </p:cSldViewPr>
  </p:slideViewPr>
  <p:outlineViewPr>
    <p:cViewPr>
      <p:scale>
        <a:sx n="33" d="100"/>
        <a:sy n="33" d="100"/>
      </p:scale>
      <p:origin x="0" y="-435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8/10/relationships/authors" Target="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chen Mariën" userId="a4f8d9ed-3895-4365-b2d5-9432cb8a20d4" providerId="ADAL" clId="{61AD2A1C-6012-4AB7-84B3-FB13C2180FA8}"/>
    <pc:docChg chg="custSel delSld modSld">
      <pc:chgData name="Jochen Mariën" userId="a4f8d9ed-3895-4365-b2d5-9432cb8a20d4" providerId="ADAL" clId="{61AD2A1C-6012-4AB7-84B3-FB13C2180FA8}" dt="2025-10-17T09:11:11.647" v="108" actId="20577"/>
      <pc:docMkLst>
        <pc:docMk/>
      </pc:docMkLst>
      <pc:sldChg chg="addSp modSp">
        <pc:chgData name="Jochen Mariën" userId="a4f8d9ed-3895-4365-b2d5-9432cb8a20d4" providerId="ADAL" clId="{61AD2A1C-6012-4AB7-84B3-FB13C2180FA8}" dt="2025-10-17T09:01:48.033" v="25" actId="1076"/>
        <pc:sldMkLst>
          <pc:docMk/>
          <pc:sldMk cId="4061739640" sldId="278"/>
        </pc:sldMkLst>
        <pc:picChg chg="add mod">
          <ac:chgData name="Jochen Mariën" userId="a4f8d9ed-3895-4365-b2d5-9432cb8a20d4" providerId="ADAL" clId="{61AD2A1C-6012-4AB7-84B3-FB13C2180FA8}" dt="2025-10-17T09:01:48.033" v="25" actId="1076"/>
          <ac:picMkLst>
            <pc:docMk/>
            <pc:sldMk cId="4061739640" sldId="278"/>
            <ac:picMk id="1026" creationId="{CEA80D90-4FA0-5DB1-BCD7-E10F2D3FDBCC}"/>
          </ac:picMkLst>
        </pc:picChg>
      </pc:sldChg>
      <pc:sldChg chg="modSp mod">
        <pc:chgData name="Jochen Mariën" userId="a4f8d9ed-3895-4365-b2d5-9432cb8a20d4" providerId="ADAL" clId="{61AD2A1C-6012-4AB7-84B3-FB13C2180FA8}" dt="2025-10-17T09:09:37.292" v="95" actId="20577"/>
        <pc:sldMkLst>
          <pc:docMk/>
          <pc:sldMk cId="68694170" sldId="306"/>
        </pc:sldMkLst>
        <pc:spChg chg="mod">
          <ac:chgData name="Jochen Mariën" userId="a4f8d9ed-3895-4365-b2d5-9432cb8a20d4" providerId="ADAL" clId="{61AD2A1C-6012-4AB7-84B3-FB13C2180FA8}" dt="2025-10-17T09:09:37.292" v="95" actId="20577"/>
          <ac:spMkLst>
            <pc:docMk/>
            <pc:sldMk cId="68694170" sldId="306"/>
            <ac:spMk id="3" creationId="{DA540836-1847-48C4-589B-4D7AEA980280}"/>
          </ac:spMkLst>
        </pc:spChg>
      </pc:sldChg>
      <pc:sldChg chg="del">
        <pc:chgData name="Jochen Mariën" userId="a4f8d9ed-3895-4365-b2d5-9432cb8a20d4" providerId="ADAL" clId="{61AD2A1C-6012-4AB7-84B3-FB13C2180FA8}" dt="2025-10-17T08:59:55.922" v="0" actId="47"/>
        <pc:sldMkLst>
          <pc:docMk/>
          <pc:sldMk cId="32114857" sldId="1232"/>
        </pc:sldMkLst>
      </pc:sldChg>
      <pc:sldChg chg="modSp mod">
        <pc:chgData name="Jochen Mariën" userId="a4f8d9ed-3895-4365-b2d5-9432cb8a20d4" providerId="ADAL" clId="{61AD2A1C-6012-4AB7-84B3-FB13C2180FA8}" dt="2025-10-17T09:01:02.426" v="22" actId="20577"/>
        <pc:sldMkLst>
          <pc:docMk/>
          <pc:sldMk cId="4043088741" sldId="1235"/>
        </pc:sldMkLst>
        <pc:spChg chg="mod">
          <ac:chgData name="Jochen Mariën" userId="a4f8d9ed-3895-4365-b2d5-9432cb8a20d4" providerId="ADAL" clId="{61AD2A1C-6012-4AB7-84B3-FB13C2180FA8}" dt="2025-10-17T09:01:02.426" v="22" actId="20577"/>
          <ac:spMkLst>
            <pc:docMk/>
            <pc:sldMk cId="4043088741" sldId="1235"/>
            <ac:spMk id="3" creationId="{4CF26A90-15A7-3573-34E1-3485889ECCE5}"/>
          </ac:spMkLst>
        </pc:spChg>
      </pc:sldChg>
      <pc:sldChg chg="modSp mod">
        <pc:chgData name="Jochen Mariën" userId="a4f8d9ed-3895-4365-b2d5-9432cb8a20d4" providerId="ADAL" clId="{61AD2A1C-6012-4AB7-84B3-FB13C2180FA8}" dt="2025-10-17T09:05:03.213" v="28" actId="6549"/>
        <pc:sldMkLst>
          <pc:docMk/>
          <pc:sldMk cId="2363148404" sldId="1251"/>
        </pc:sldMkLst>
        <pc:spChg chg="mod">
          <ac:chgData name="Jochen Mariën" userId="a4f8d9ed-3895-4365-b2d5-9432cb8a20d4" providerId="ADAL" clId="{61AD2A1C-6012-4AB7-84B3-FB13C2180FA8}" dt="2025-10-17T09:05:03.213" v="28" actId="6549"/>
          <ac:spMkLst>
            <pc:docMk/>
            <pc:sldMk cId="2363148404" sldId="1251"/>
            <ac:spMk id="3" creationId="{0747D0F9-8F42-3E07-A909-2C9864019DF6}"/>
          </ac:spMkLst>
        </pc:spChg>
      </pc:sldChg>
      <pc:sldChg chg="modSp mod">
        <pc:chgData name="Jochen Mariën" userId="a4f8d9ed-3895-4365-b2d5-9432cb8a20d4" providerId="ADAL" clId="{61AD2A1C-6012-4AB7-84B3-FB13C2180FA8}" dt="2025-10-17T09:08:27.033" v="30" actId="20577"/>
        <pc:sldMkLst>
          <pc:docMk/>
          <pc:sldMk cId="253226154" sldId="1258"/>
        </pc:sldMkLst>
        <pc:spChg chg="mod">
          <ac:chgData name="Jochen Mariën" userId="a4f8d9ed-3895-4365-b2d5-9432cb8a20d4" providerId="ADAL" clId="{61AD2A1C-6012-4AB7-84B3-FB13C2180FA8}" dt="2025-10-17T09:08:27.033" v="30" actId="20577"/>
          <ac:spMkLst>
            <pc:docMk/>
            <pc:sldMk cId="253226154" sldId="1258"/>
            <ac:spMk id="3" creationId="{5F635687-7EB6-FD81-6EA7-C8EAAAB65E88}"/>
          </ac:spMkLst>
        </pc:spChg>
      </pc:sldChg>
      <pc:sldChg chg="modSp mod">
        <pc:chgData name="Jochen Mariën" userId="a4f8d9ed-3895-4365-b2d5-9432cb8a20d4" providerId="ADAL" clId="{61AD2A1C-6012-4AB7-84B3-FB13C2180FA8}" dt="2025-10-17T09:09:48.936" v="101" actId="20577"/>
        <pc:sldMkLst>
          <pc:docMk/>
          <pc:sldMk cId="2889950394" sldId="1259"/>
        </pc:sldMkLst>
        <pc:spChg chg="mod">
          <ac:chgData name="Jochen Mariën" userId="a4f8d9ed-3895-4365-b2d5-9432cb8a20d4" providerId="ADAL" clId="{61AD2A1C-6012-4AB7-84B3-FB13C2180FA8}" dt="2025-10-17T09:09:48.936" v="101" actId="20577"/>
          <ac:spMkLst>
            <pc:docMk/>
            <pc:sldMk cId="2889950394" sldId="1259"/>
            <ac:spMk id="3" creationId="{AEF79A20-D708-9509-D901-53BFE473BA90}"/>
          </ac:spMkLst>
        </pc:spChg>
      </pc:sldChg>
      <pc:sldChg chg="modSp mod">
        <pc:chgData name="Jochen Mariën" userId="a4f8d9ed-3895-4365-b2d5-9432cb8a20d4" providerId="ADAL" clId="{61AD2A1C-6012-4AB7-84B3-FB13C2180FA8}" dt="2025-10-17T09:11:11.647" v="108" actId="20577"/>
        <pc:sldMkLst>
          <pc:docMk/>
          <pc:sldMk cId="180874356" sldId="1262"/>
        </pc:sldMkLst>
        <pc:spChg chg="mod">
          <ac:chgData name="Jochen Mariën" userId="a4f8d9ed-3895-4365-b2d5-9432cb8a20d4" providerId="ADAL" clId="{61AD2A1C-6012-4AB7-84B3-FB13C2180FA8}" dt="2025-10-17T09:11:11.647" v="108" actId="20577"/>
          <ac:spMkLst>
            <pc:docMk/>
            <pc:sldMk cId="180874356" sldId="1262"/>
            <ac:spMk id="3" creationId="{46CDAD59-BB77-6D59-C985-618AC83583EE}"/>
          </ac:spMkLst>
        </pc:spChg>
      </pc:sldChg>
    </pc:docChg>
  </pc:docChgLst>
  <pc:docChgLst>
    <pc:chgData name="Jochen Mariën" userId="a4f8d9ed-3895-4365-b2d5-9432cb8a20d4" providerId="ADAL" clId="{356E6382-9B20-433D-9953-01900B9EF39A}"/>
    <pc:docChg chg="modSld">
      <pc:chgData name="Jochen Mariën" userId="a4f8d9ed-3895-4365-b2d5-9432cb8a20d4" providerId="ADAL" clId="{356E6382-9B20-433D-9953-01900B9EF39A}" dt="2025-09-23T15:07:25.269" v="10" actId="1076"/>
      <pc:docMkLst>
        <pc:docMk/>
      </pc:docMkLst>
      <pc:sldChg chg="modSp mod">
        <pc:chgData name="Jochen Mariën" userId="a4f8d9ed-3895-4365-b2d5-9432cb8a20d4" providerId="ADAL" clId="{356E6382-9B20-433D-9953-01900B9EF39A}" dt="2025-09-23T15:07:25.269" v="10" actId="1076"/>
        <pc:sldMkLst>
          <pc:docMk/>
          <pc:sldMk cId="68694170" sldId="306"/>
        </pc:sldMkLst>
        <pc:picChg chg="mod">
          <ac:chgData name="Jochen Mariën" userId="a4f8d9ed-3895-4365-b2d5-9432cb8a20d4" providerId="ADAL" clId="{356E6382-9B20-433D-9953-01900B9EF39A}" dt="2025-09-23T15:07:25.269" v="10" actId="1076"/>
          <ac:picMkLst>
            <pc:docMk/>
            <pc:sldMk cId="68694170" sldId="306"/>
            <ac:picMk id="7" creationId="{36449D6C-83B1-3D05-171E-3D6029BB0D9C}"/>
          </ac:picMkLst>
        </pc:picChg>
      </pc:sldChg>
      <pc:sldChg chg="modSp mod">
        <pc:chgData name="Jochen Mariën" userId="a4f8d9ed-3895-4365-b2d5-9432cb8a20d4" providerId="ADAL" clId="{356E6382-9B20-433D-9953-01900B9EF39A}" dt="2025-09-23T15:04:06.237" v="2" actId="20577"/>
        <pc:sldMkLst>
          <pc:docMk/>
          <pc:sldMk cId="1145548200" sldId="1249"/>
        </pc:sldMkLst>
        <pc:spChg chg="mod">
          <ac:chgData name="Jochen Mariën" userId="a4f8d9ed-3895-4365-b2d5-9432cb8a20d4" providerId="ADAL" clId="{356E6382-9B20-433D-9953-01900B9EF39A}" dt="2025-09-23T15:04:06.237" v="2" actId="20577"/>
          <ac:spMkLst>
            <pc:docMk/>
            <pc:sldMk cId="1145548200" sldId="1249"/>
            <ac:spMk id="3" creationId="{E1FA09CE-BF25-B2BF-B9AC-3304F8068473}"/>
          </ac:spMkLst>
        </pc:spChg>
      </pc:sldChg>
      <pc:sldChg chg="modSp mod">
        <pc:chgData name="Jochen Mariën" userId="a4f8d9ed-3895-4365-b2d5-9432cb8a20d4" providerId="ADAL" clId="{356E6382-9B20-433D-9953-01900B9EF39A}" dt="2025-09-23T15:04:40.415" v="9" actId="6549"/>
        <pc:sldMkLst>
          <pc:docMk/>
          <pc:sldMk cId="2363148404" sldId="1251"/>
        </pc:sldMkLst>
        <pc:spChg chg="mod">
          <ac:chgData name="Jochen Mariën" userId="a4f8d9ed-3895-4365-b2d5-9432cb8a20d4" providerId="ADAL" clId="{356E6382-9B20-433D-9953-01900B9EF39A}" dt="2025-09-23T15:04:40.415" v="9" actId="6549"/>
          <ac:spMkLst>
            <pc:docMk/>
            <pc:sldMk cId="2363148404" sldId="1251"/>
            <ac:spMk id="3" creationId="{0747D0F9-8F42-3E07-A909-2C9864019DF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CF443226-E9FA-4009-BBB5-4E5E237B04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9910BF9-BC8A-4B24-9330-67EAC1E974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4F5CE-CB34-4A0C-9595-867A2C0DB20E}" type="datetimeFigureOut">
              <a:rPr lang="nl-BE" smtClean="0"/>
              <a:t>17/10/2025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D8A7516-5705-4629-A699-3DF8CFBEEC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4C8A117-749A-4619-8630-3F24E93BDE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ABF38-3E8C-439D-9643-BC9C6AAC198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7669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3584B-980D-4F7D-BA36-682FCDF648BB}" type="datetimeFigureOut">
              <a:rPr lang="nl-BE" smtClean="0"/>
              <a:t>17/10/2025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A7F70-BA74-4B93-A504-6802F0D0CD3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7219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81586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https://thelead.io/data-science/5-steps-to-a-data-science-project-lifecycle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01030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35540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94022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40872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18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55138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20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882655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22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1970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DE10F-256B-47AC-88AD-900EFF8F80F1}" type="slidenum">
              <a:rPr lang="en-BE" smtClean="0"/>
              <a:t>23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85888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titanic: delete the 1 row without a fare, and the column “cabin”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35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82645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https://en.wikipedia.org/wiki/Survivorship_bias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b="0" u="sng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https://www.youtube.com/watch?v=P9WFpVsRtQg</a:t>
            </a:r>
            <a:endParaRPr lang="nl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38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98589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39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07523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626659" y="3433481"/>
            <a:ext cx="9144000" cy="890839"/>
          </a:xfrm>
        </p:spPr>
        <p:txBody>
          <a:bodyPr anchor="b">
            <a:normAutofit/>
          </a:bodyPr>
          <a:lstStyle>
            <a:lvl1pPr algn="r">
              <a:defRPr lang="nl-BE" sz="4400" kern="1200" dirty="0">
                <a:solidFill>
                  <a:srgbClr val="4584B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2626659" y="4690378"/>
            <a:ext cx="9144000" cy="698557"/>
          </a:xfrm>
        </p:spPr>
        <p:txBody>
          <a:bodyPr>
            <a:normAutofit/>
          </a:bodyPr>
          <a:lstStyle>
            <a:lvl1pPr marL="0" indent="0" algn="r">
              <a:buNone/>
              <a:defRPr lang="nl-BE" sz="3200" kern="1200" dirty="0">
                <a:solidFill>
                  <a:srgbClr val="FFDE5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E141-11F1-487F-A892-18B8A63336C7}" type="datetime1">
              <a:rPr lang="nl-BE" smtClean="0"/>
              <a:t>17/10/2025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0502153" y="0"/>
            <a:ext cx="1559859" cy="1219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9">
            <a:extLst>
              <a:ext uri="{FF2B5EF4-FFF2-40B4-BE49-F238E27FC236}">
                <a16:creationId xmlns:a16="http://schemas.microsoft.com/office/drawing/2014/main" id="{FBAF35B5-7E2F-489C-AA38-83D52B9A7B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582705" y="1832120"/>
            <a:ext cx="1461245" cy="11351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350454-2D85-403C-B5B4-870BA60949E0}"/>
              </a:ext>
            </a:extLst>
          </p:cNvPr>
          <p:cNvSpPr txBox="1"/>
          <p:nvPr userDrawn="1"/>
        </p:nvSpPr>
        <p:spPr>
          <a:xfrm>
            <a:off x="1836761" y="1938046"/>
            <a:ext cx="8044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5400" b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</a:t>
            </a:r>
            <a:r>
              <a:rPr lang="nl-BE" sz="5400" b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science</a:t>
            </a:r>
            <a:endParaRPr lang="nl-BE" sz="5400" b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203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4584B6"/>
              </a:buClr>
              <a:defRPr/>
            </a:lvl1pPr>
            <a:lvl2pPr>
              <a:buClr>
                <a:srgbClr val="FFDE57"/>
              </a:buCl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A89A6-C9B9-4556-BC9E-5E3CF3322A33}" type="datetime1">
              <a:rPr lang="nl-BE" smtClean="0"/>
              <a:t>17/10/2025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B3154-47D9-4402-8EDB-E791933DC0B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9890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42D4-4FBB-465F-AE58-8ADBDBF671C8}" type="datetime1">
              <a:rPr lang="nl-BE" smtClean="0"/>
              <a:t>17/10/2025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782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405D5-C0FD-42E0-9EB1-2670F471B7BB}" type="datetime1">
              <a:rPr lang="nl-BE" smtClean="0"/>
              <a:t>17/10/2025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467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5C39-C031-448F-A58F-CA88F7B6F786}" type="datetime1">
              <a:rPr lang="nl-BE" smtClean="0"/>
              <a:t>17/10/2025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098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07F5-1DF0-4FFF-91A4-1E1A6A26A94A}" type="datetime1">
              <a:rPr lang="nl-BE" smtClean="0"/>
              <a:t>17/10/2025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149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68B-A159-4E9D-A6C6-C6786C6AB2EB}" type="datetime1">
              <a:rPr lang="nl-BE" smtClean="0"/>
              <a:t>17/10/2025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517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2159-AF82-4D23-BC06-D4277BDD9BAD}" type="datetime1">
              <a:rPr lang="nl-BE" smtClean="0"/>
              <a:t>17/10/2025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459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7014-C292-4E4F-926C-1A31F538B52A}" type="datetime1">
              <a:rPr lang="nl-BE" smtClean="0"/>
              <a:t>17/10/2025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7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FD92-94F2-4CD0-8A1D-AA3295115CEC}" type="datetime1">
              <a:rPr lang="nl-BE" smtClean="0"/>
              <a:t>17/10/2025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341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84EFA-B363-4043-A12E-44B39EC7D05B}" type="datetime1">
              <a:rPr lang="nl-BE" smtClean="0"/>
              <a:t>17/10/2025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682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82706" y="365125"/>
            <a:ext cx="10771094" cy="92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82705" y="1550894"/>
            <a:ext cx="11291048" cy="4626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82705" y="6356350"/>
            <a:ext cx="1353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7161-F687-474C-905A-3CCBBA535086}" type="datetime1">
              <a:rPr lang="nl-BE" smtClean="0"/>
              <a:t>17/10/2025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384611" y="6356350"/>
            <a:ext cx="6436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055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7" name="Rechthoek 6"/>
          <p:cNvSpPr/>
          <p:nvPr userDrawn="1"/>
        </p:nvSpPr>
        <p:spPr>
          <a:xfrm rot="5400000">
            <a:off x="6145210" y="-4660629"/>
            <a:ext cx="72000" cy="1202158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7FE2247-7A25-44B0-854B-AE1E11CA90FA}"/>
              </a:ext>
            </a:extLst>
          </p:cNvPr>
          <p:cNvSpPr/>
          <p:nvPr userDrawn="1"/>
        </p:nvSpPr>
        <p:spPr>
          <a:xfrm>
            <a:off x="105303" y="-171400"/>
            <a:ext cx="72000" cy="720080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85989" y="-171400"/>
            <a:ext cx="72000" cy="7200800"/>
          </a:xfrm>
          <a:prstGeom prst="rect">
            <a:avLst/>
          </a:prstGeom>
          <a:solidFill>
            <a:srgbClr val="FFDE57"/>
          </a:solidFill>
          <a:ln>
            <a:solidFill>
              <a:srgbClr val="FFDE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D656C7A-8563-4AB3-B098-D72F316041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10650071" y="110811"/>
            <a:ext cx="1461245" cy="11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5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46464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584B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DE57"/>
        </a:buClr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46464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ocs.python.org/3/library/datetime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eaborn.pydata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3js.org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impute.SimpleImputer.html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Chapter 7 – Data augmentation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A9870-319B-6003-8D26-9A906BE72FC8}"/>
              </a:ext>
            </a:extLst>
          </p:cNvPr>
          <p:cNvSpPr txBox="1"/>
          <p:nvPr/>
        </p:nvSpPr>
        <p:spPr>
          <a:xfrm>
            <a:off x="1920240" y="2023110"/>
            <a:ext cx="577215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masis MT Pro Medium" panose="02040604050005020304" pitchFamily="18" charset="0"/>
              </a:rPr>
              <a:t>Artificial Intelligence</a:t>
            </a:r>
            <a:endParaRPr lang="en-BE" sz="4000" dirty="0">
              <a:solidFill>
                <a:schemeClr val="tx1">
                  <a:lumMod val="65000"/>
                  <a:lumOff val="35000"/>
                </a:schemeClr>
              </a:solidFill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34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E4B8E-8F09-FDEB-9290-B7C80BED4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6DA47-16F5-3A51-5081-3C0D02FEC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7215380" cy="462606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You can’t do machine learning without doing data science first</a:t>
            </a:r>
          </a:p>
          <a:p>
            <a:r>
              <a:rPr lang="en-US" dirty="0"/>
              <a:t>Data science means wrangling your data into a form you can use it in</a:t>
            </a:r>
          </a:p>
          <a:p>
            <a:r>
              <a:rPr lang="en-US" dirty="0"/>
              <a:t>Because any real data will never be useable in its raw form, you’ll need to clean it up, cut of the bad parts, …</a:t>
            </a:r>
          </a:p>
          <a:p>
            <a:r>
              <a:rPr lang="en-US" dirty="0"/>
              <a:t>In a way, machine learning is part of data science, because a good model can help you understand your data</a:t>
            </a:r>
          </a:p>
          <a:p>
            <a:pPr lvl="1"/>
            <a:r>
              <a:rPr lang="en-US" dirty="0"/>
              <a:t>Like what we did with the diamonds earlier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F2667-B01D-26F1-CF8D-ADAC1A515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</a:t>
            </a:fld>
            <a:endParaRPr lang="nl-BE"/>
          </a:p>
        </p:txBody>
      </p:sp>
      <p:pic>
        <p:nvPicPr>
          <p:cNvPr id="5" name="Picture 4" descr="A picture containing sitting, device&#10;&#10;Description automatically generated">
            <a:extLst>
              <a:ext uri="{FF2B5EF4-FFF2-40B4-BE49-F238E27FC236}">
                <a16:creationId xmlns:a16="http://schemas.microsoft.com/office/drawing/2014/main" id="{0116A085-F6C1-F8A1-BB20-16B45D9CC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7544" y="1904983"/>
            <a:ext cx="4104456" cy="391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09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244CC-BC40-202A-D60B-C8EAD055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overlap</a:t>
            </a:r>
          </a:p>
        </p:txBody>
      </p:sp>
      <p:pic>
        <p:nvPicPr>
          <p:cNvPr id="6" name="Content Placeholder 5" descr="A diagram of machine learning&#10;&#10;AI-generated content may be incorrect.">
            <a:extLst>
              <a:ext uri="{FF2B5EF4-FFF2-40B4-BE49-F238E27FC236}">
                <a16:creationId xmlns:a16="http://schemas.microsoft.com/office/drawing/2014/main" id="{33420DEB-726E-13BD-4F23-797EBDD8E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208" y="1576441"/>
            <a:ext cx="9133584" cy="477990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3CEEA-B72D-F4A8-6D3F-FA10C9DA2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04508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D1C2C-A01C-42C8-A200-FC046EDE2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The data </a:t>
            </a:r>
            <a:r>
              <a:rPr lang="nl-BE" err="1"/>
              <a:t>science</a:t>
            </a:r>
            <a:r>
              <a:rPr lang="nl-BE"/>
              <a:t> </a:t>
            </a:r>
            <a:r>
              <a:rPr lang="nl-BE" err="1"/>
              <a:t>process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C2BA6-0B26-4BC7-AE00-862F56D57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</a:t>
            </a:fld>
            <a:endParaRPr lang="nl-BE"/>
          </a:p>
        </p:txBody>
      </p:sp>
      <p:pic>
        <p:nvPicPr>
          <p:cNvPr id="1028" name="Picture 4" descr="What is the Data Science Life Cycle? | Everything you need to know">
            <a:extLst>
              <a:ext uri="{FF2B5EF4-FFF2-40B4-BE49-F238E27FC236}">
                <a16:creationId xmlns:a16="http://schemas.microsoft.com/office/drawing/2014/main" id="{A6C08AD5-5648-4DBC-96A3-DB40125A2F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79"/>
          <a:stretch/>
        </p:blipFill>
        <p:spPr bwMode="auto">
          <a:xfrm>
            <a:off x="2409878" y="2942249"/>
            <a:ext cx="7372243" cy="366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5FD463-42B9-DE14-92FA-8B0D8FD5F927}"/>
              </a:ext>
            </a:extLst>
          </p:cNvPr>
          <p:cNvSpPr txBox="1"/>
          <p:nvPr/>
        </p:nvSpPr>
        <p:spPr>
          <a:xfrm>
            <a:off x="582705" y="1668806"/>
            <a:ext cx="114851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data science life cycle involves various roles, tools, and processes, which enables analysts to gain actionable insights. Typically, a data science project undergoes the following stages: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6309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D45CC-4DC4-4C42-A88E-2E800E17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Obtain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D1C2B-F02C-4C36-85BB-402AA963A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Query databases</a:t>
            </a:r>
          </a:p>
          <a:p>
            <a:r>
              <a:rPr lang="en-US"/>
              <a:t>Read Excel-files</a:t>
            </a:r>
          </a:p>
          <a:p>
            <a:r>
              <a:rPr lang="en-US"/>
              <a:t>Call API’s</a:t>
            </a:r>
          </a:p>
          <a:p>
            <a:r>
              <a:rPr lang="en-US"/>
              <a:t>Read CSV’s</a:t>
            </a:r>
          </a:p>
          <a:p>
            <a:r>
              <a:rPr lang="en-US"/>
              <a:t>…</a:t>
            </a:r>
          </a:p>
          <a:p>
            <a:endParaRPr lang="en-US"/>
          </a:p>
          <a:p>
            <a:r>
              <a:rPr lang="en-US"/>
              <a:t>Get and combine the data from anywhere you can</a:t>
            </a:r>
          </a:p>
          <a:p>
            <a:r>
              <a:rPr lang="en-US"/>
              <a:t>But: only use properly governed data</a:t>
            </a:r>
          </a:p>
          <a:p>
            <a:pPr lvl="1"/>
            <a:r>
              <a:rPr lang="en-US"/>
              <a:t>More is not better when more means less reliable</a:t>
            </a:r>
          </a:p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88A87-AF26-4778-AEF3-926B67A56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63161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32CA-217E-B476-0957-0D7F5A1E8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Obtain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26A90-15A7-3573-34E1-3485889EC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We’ve been storing huge amounts of data the past few years, but this data isn’t always publicly available</a:t>
            </a:r>
          </a:p>
          <a:p>
            <a:r>
              <a:rPr lang="en-US" dirty="0"/>
              <a:t>For example: a student internship was “scrape all the price data for holiday parks, so our client can use this data to better position themselves in the market.”</a:t>
            </a:r>
          </a:p>
          <a:p>
            <a:pPr lvl="1"/>
            <a:r>
              <a:rPr lang="en-US" dirty="0"/>
              <a:t>Very nice dataset by the way.</a:t>
            </a:r>
          </a:p>
          <a:p>
            <a:r>
              <a:rPr lang="en-US" dirty="0"/>
              <a:t>This process is called “scraping” and it’s really fun</a:t>
            </a:r>
          </a:p>
          <a:p>
            <a:pPr lvl="1"/>
            <a:r>
              <a:rPr lang="en-US" dirty="0"/>
              <a:t>It’s like a sudoku but with data and programming</a:t>
            </a:r>
          </a:p>
          <a:p>
            <a:r>
              <a:rPr lang="en-US" dirty="0"/>
              <a:t>Assignment for students in the data science course:</a:t>
            </a:r>
            <a:br>
              <a:rPr lang="en-US" dirty="0"/>
            </a:br>
            <a:r>
              <a:rPr lang="en-US" dirty="0"/>
              <a:t>Scrape </a:t>
            </a:r>
            <a:r>
              <a:rPr lang="en-BE" dirty="0"/>
              <a:t>multi-stage bike races</a:t>
            </a:r>
            <a:r>
              <a:rPr lang="en-US" dirty="0"/>
              <a:t> and compare them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D4491-E07E-BD5D-5480-C918E4246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</a:t>
            </a:fld>
            <a:endParaRPr lang="nl-BE" dirty="0"/>
          </a:p>
        </p:txBody>
      </p:sp>
      <p:pic>
        <p:nvPicPr>
          <p:cNvPr id="6" name="Picture 5" descr="Long sleeved blue shirt with white text&#10;&#10;AI-generated content may be incorrect.">
            <a:extLst>
              <a:ext uri="{FF2B5EF4-FFF2-40B4-BE49-F238E27FC236}">
                <a16:creationId xmlns:a16="http://schemas.microsoft.com/office/drawing/2014/main" id="{92546128-0164-449F-686F-65523EF429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753" y="3757706"/>
            <a:ext cx="3098800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088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4828A-01B7-4863-9FFE-F52CBC8BE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Scrub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13BBF-3E86-4738-B987-6FC2A654D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all dates recognized as dates?</a:t>
            </a:r>
          </a:p>
          <a:p>
            <a:r>
              <a:rPr lang="en-US" dirty="0"/>
              <a:t>Are all numbers recognized as numbers?</a:t>
            </a:r>
          </a:p>
          <a:p>
            <a:r>
              <a:rPr lang="en-US" dirty="0"/>
              <a:t>Is the information of different files correctly merged?</a:t>
            </a:r>
          </a:p>
          <a:p>
            <a:r>
              <a:rPr lang="en-US" dirty="0"/>
              <a:t>Does every datapoint translate to a single piece of information?</a:t>
            </a:r>
          </a:p>
          <a:p>
            <a:pPr lvl="1"/>
            <a:r>
              <a:rPr lang="en-US" dirty="0"/>
              <a:t>National Insurance Number: date of birth and gender</a:t>
            </a:r>
          </a:p>
          <a:p>
            <a:pPr lvl="1"/>
            <a:r>
              <a:rPr lang="en-US" dirty="0"/>
              <a:t>Street name and number: Split? Merge?</a:t>
            </a:r>
          </a:p>
          <a:p>
            <a:r>
              <a:rPr lang="en-US" dirty="0"/>
              <a:t>Are there missing values? How will you deal with them?</a:t>
            </a:r>
          </a:p>
          <a:p>
            <a:pPr lvl="1"/>
            <a:r>
              <a:rPr lang="en-US" dirty="0"/>
              <a:t>Amputation/imputation will be a big thing later in this presentation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EB56C-B9A3-4B4B-8E12-5D27B0F48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7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47346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04A17-B7F9-3563-6426-B8C3CD3BC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Scrub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A485C-0E68-7357-B4DC-607CAE691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Sometimes it feels like the easiest way of dealing with dates is simply storing “year”, “month” and “day” in a different variable (or field or…)</a:t>
            </a:r>
          </a:p>
          <a:p>
            <a:r>
              <a:rPr lang="en-US" dirty="0"/>
              <a:t>But your gut feeling is </a:t>
            </a:r>
            <a:r>
              <a:rPr lang="en-US" b="1" dirty="0"/>
              <a:t>wrong</a:t>
            </a:r>
            <a:r>
              <a:rPr lang="en-US" dirty="0"/>
              <a:t>: you should always use the correct datetime-datatypes</a:t>
            </a:r>
          </a:p>
          <a:p>
            <a:r>
              <a:rPr lang="en-US" dirty="0"/>
              <a:t>There are many, and for every language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using them is always annoying in the beginning, but in the end it’s the only real viable option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CD7DE-C68C-D487-70FB-AE37F35AD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8</a:t>
            </a:fld>
            <a:endParaRPr lang="nl-BE"/>
          </a:p>
        </p:txBody>
      </p:sp>
      <p:pic>
        <p:nvPicPr>
          <p:cNvPr id="6" name="Picture 5">
            <a:hlinkClick r:id="rId2"/>
            <a:extLst>
              <a:ext uri="{FF2B5EF4-FFF2-40B4-BE49-F238E27FC236}">
                <a16:creationId xmlns:a16="http://schemas.microsoft.com/office/drawing/2014/main" id="{5E60F450-654D-0D5E-C65F-013541C93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122" y="3686128"/>
            <a:ext cx="5958262" cy="100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616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E0580-EB30-4EF2-83FC-582203932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Explore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9F2A2-690D-4BD4-960A-89C0DBD21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to make sense of all available data</a:t>
            </a:r>
          </a:p>
          <a:p>
            <a:r>
              <a:rPr lang="en-US" dirty="0"/>
              <a:t>Create some graphs, examine the distribution of all variables</a:t>
            </a:r>
          </a:p>
          <a:p>
            <a:r>
              <a:rPr lang="en-US" dirty="0"/>
              <a:t>Are there correlations between the data? Should there be?</a:t>
            </a:r>
          </a:p>
          <a:p>
            <a:pPr lvl="1"/>
            <a:r>
              <a:rPr lang="en-US" dirty="0"/>
              <a:t>High blood pressure in relation to height and weight</a:t>
            </a:r>
          </a:p>
          <a:p>
            <a:pPr lvl="1"/>
            <a:r>
              <a:rPr lang="en-US" dirty="0"/>
              <a:t>Do not assume causation!</a:t>
            </a:r>
          </a:p>
          <a:p>
            <a:r>
              <a:rPr lang="en-US" dirty="0"/>
              <a:t>If needed, go back to “Scrub”</a:t>
            </a:r>
          </a:p>
          <a:p>
            <a:pPr lvl="1"/>
            <a:r>
              <a:rPr lang="en-US" dirty="0"/>
              <a:t>Identify and label categorical data</a:t>
            </a:r>
          </a:p>
          <a:p>
            <a:pPr lvl="1"/>
            <a:r>
              <a:rPr lang="en-US" dirty="0"/>
              <a:t>Merge or split datapoints</a:t>
            </a:r>
          </a:p>
          <a:p>
            <a:pPr lvl="1"/>
            <a:r>
              <a:rPr lang="en-US" dirty="0"/>
              <a:t>Deal with outliers</a:t>
            </a:r>
          </a:p>
          <a:p>
            <a:r>
              <a:rPr lang="en-US" dirty="0"/>
              <a:t>Also: talk to the domain experts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5CB41-404D-47A0-8793-ADA50740F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9</a:t>
            </a:fld>
            <a:endParaRPr lang="nl-B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A80D90-4FA0-5DB1-BCD7-E10F2D3FD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964" y="3598394"/>
            <a:ext cx="2830249" cy="2940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1739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5EDCB-9E4A-E657-7224-6DC0DABC0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Explore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02FC5-AF4E-603E-569C-212B4301C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8040595" cy="4626069"/>
          </a:xfrm>
        </p:spPr>
        <p:txBody>
          <a:bodyPr/>
          <a:lstStyle/>
          <a:p>
            <a:r>
              <a:rPr lang="en-US" dirty="0"/>
              <a:t>At this point you’ll also be needing a domain expert</a:t>
            </a:r>
          </a:p>
          <a:p>
            <a:r>
              <a:rPr lang="en-US" dirty="0"/>
              <a:t>With domain knowledge, you can begin to determine the features and target data that your model needs to make accurate predictions</a:t>
            </a:r>
          </a:p>
          <a:p>
            <a:r>
              <a:rPr lang="en-US" dirty="0"/>
              <a:t>Your data should be representative of the data that you are going to have when you use the model to make a prediction</a:t>
            </a:r>
          </a:p>
          <a:p>
            <a:r>
              <a:rPr lang="en-US" dirty="0"/>
              <a:t>They help you understand which fields are important and which not, which outliers are safe to throw away, how data can be imputed, …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94F16-9031-8AF2-27CE-1172A1250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10</a:t>
            </a:fld>
            <a:endParaRPr lang="nl-BE"/>
          </a:p>
        </p:txBody>
      </p:sp>
      <p:pic>
        <p:nvPicPr>
          <p:cNvPr id="6" name="Picture 5" descr="A black background with white spots&#10;&#10;AI-generated content may be incorrect.">
            <a:extLst>
              <a:ext uri="{FF2B5EF4-FFF2-40B4-BE49-F238E27FC236}">
                <a16:creationId xmlns:a16="http://schemas.microsoft.com/office/drawing/2014/main" id="{448E0699-259C-6C75-3A4D-08B58575B0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331" y="1701800"/>
            <a:ext cx="3367643" cy="515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07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EECCC-C585-478B-BA2D-6876CAA64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4: Model data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7EA95-DD87-4827-864B-2CB529295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models that can explain or predict based upon the data you have imported</a:t>
            </a:r>
          </a:p>
          <a:p>
            <a:pPr lvl="1"/>
            <a:r>
              <a:rPr lang="en-US" dirty="0"/>
              <a:t>Classify using logistic regression</a:t>
            </a:r>
          </a:p>
          <a:p>
            <a:pPr lvl="1"/>
            <a:r>
              <a:rPr lang="en-US" dirty="0"/>
              <a:t>Predict using linear regression</a:t>
            </a:r>
          </a:p>
          <a:p>
            <a:pPr lvl="1"/>
            <a:r>
              <a:rPr lang="en-US" dirty="0"/>
              <a:t>Cluster using k-means or hierarchical clustering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(What we did in the previous chapter)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D0E5C-2AC8-4B8D-93D6-47218858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53870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42983-0403-4BCA-927E-135811F3E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5: Interpret the data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37A2E-1531-4A10-8883-72535B0D2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ultimate goal of every data science-project</a:t>
            </a:r>
          </a:p>
          <a:p>
            <a:r>
              <a:rPr lang="en-US"/>
              <a:t>Test how the models we made generalize</a:t>
            </a:r>
          </a:p>
          <a:p>
            <a:r>
              <a:rPr lang="en-US"/>
              <a:t>Explain our findings to a non-domain specialist</a:t>
            </a:r>
          </a:p>
          <a:p>
            <a:r>
              <a:rPr lang="en-US"/>
              <a:t>Answer the questions we posed in the beginning</a:t>
            </a:r>
          </a:p>
          <a:p>
            <a:pPr lvl="1"/>
            <a:r>
              <a:rPr lang="en-US"/>
              <a:t>Do heavier cars always consume more gas?</a:t>
            </a:r>
          </a:p>
          <a:p>
            <a:pPr lvl="1"/>
            <a:r>
              <a:rPr lang="en-US"/>
              <a:t>In which season are there more insect-bites?</a:t>
            </a:r>
          </a:p>
          <a:p>
            <a:r>
              <a:rPr lang="en-US"/>
              <a:t>Tell a story using the data you were given.</a:t>
            </a:r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442AB-AC22-455A-B7B6-FEBD513F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53451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55B51-7D4D-4315-86E6-C1271499B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err="1"/>
              <a:t>Summing</a:t>
            </a:r>
            <a:r>
              <a:rPr lang="nl-BE"/>
              <a:t> up</a:t>
            </a:r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902BDF0-FFCE-4F8C-B523-0F8262DA08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2613" y="1550988"/>
          <a:ext cx="11291886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5041">
                  <a:extLst>
                    <a:ext uri="{9D8B030D-6E8A-4147-A177-3AD203B41FA5}">
                      <a16:colId xmlns:a16="http://schemas.microsoft.com/office/drawing/2014/main" val="4026651799"/>
                    </a:ext>
                  </a:extLst>
                </a:gridCol>
                <a:gridCol w="5288692">
                  <a:extLst>
                    <a:ext uri="{9D8B030D-6E8A-4147-A177-3AD203B41FA5}">
                      <a16:colId xmlns:a16="http://schemas.microsoft.com/office/drawing/2014/main" val="3120746523"/>
                    </a:ext>
                  </a:extLst>
                </a:gridCol>
                <a:gridCol w="4658153">
                  <a:extLst>
                    <a:ext uri="{9D8B030D-6E8A-4147-A177-3AD203B41FA5}">
                      <a16:colId xmlns:a16="http://schemas.microsoft.com/office/drawing/2014/main" val="4231150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/>
                        <a:t>OSEMN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err="1"/>
                        <a:t>Description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/>
                        <a:t>Technologies </a:t>
                      </a:r>
                      <a:r>
                        <a:rPr lang="nl-BE" err="1"/>
                        <a:t>used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014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err="1"/>
                        <a:t>Obtain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err="1"/>
                        <a:t>Gathering</a:t>
                      </a:r>
                      <a:r>
                        <a:rPr lang="nl-BE"/>
                        <a:t> data </a:t>
                      </a:r>
                      <a:r>
                        <a:rPr lang="nl-BE" err="1"/>
                        <a:t>from</a:t>
                      </a:r>
                      <a:r>
                        <a:rPr lang="nl-BE"/>
                        <a:t> databases, </a:t>
                      </a:r>
                      <a:r>
                        <a:rPr lang="nl-BE" err="1"/>
                        <a:t>the</a:t>
                      </a:r>
                      <a:r>
                        <a:rPr lang="nl-BE"/>
                        <a:t> web, open data platforms like </a:t>
                      </a:r>
                      <a:r>
                        <a:rPr lang="nl-BE" err="1"/>
                        <a:t>Kaggle</a:t>
                      </a:r>
                      <a:r>
                        <a:rPr lang="nl-BE"/>
                        <a:t>, 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/>
                        <a:t>SQL, Web </a:t>
                      </a:r>
                      <a:r>
                        <a:rPr lang="nl-BE" err="1"/>
                        <a:t>APIs</a:t>
                      </a:r>
                      <a:r>
                        <a:rPr lang="nl-BE"/>
                        <a:t>, </a:t>
                      </a:r>
                      <a:r>
                        <a:rPr lang="nl-BE" b="1"/>
                        <a:t>Web </a:t>
                      </a:r>
                      <a:r>
                        <a:rPr lang="nl-BE" b="1" err="1"/>
                        <a:t>Scraping</a:t>
                      </a:r>
                      <a:r>
                        <a:rPr lang="nl-BE" b="1"/>
                        <a:t> </a:t>
                      </a:r>
                      <a:r>
                        <a:rPr lang="nl-BE"/>
                        <a:t>via Python </a:t>
                      </a:r>
                      <a:r>
                        <a:rPr lang="nl-BE" err="1"/>
                        <a:t>libraries</a:t>
                      </a:r>
                      <a:r>
                        <a:rPr lang="nl-BE"/>
                        <a:t> like </a:t>
                      </a:r>
                      <a:r>
                        <a:rPr lang="nl-BE" err="1"/>
                        <a:t>Beautiful</a:t>
                      </a:r>
                      <a:r>
                        <a:rPr lang="nl-BE"/>
                        <a:t> </a:t>
                      </a:r>
                      <a:r>
                        <a:rPr lang="nl-BE" err="1"/>
                        <a:t>Soup</a:t>
                      </a:r>
                      <a:r>
                        <a:rPr lang="nl-BE"/>
                        <a:t>, …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25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/>
                        <a:t>Scrub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Organising</a:t>
                      </a: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tidying up the data, removing what is no longer needed, replacing what is missing and </a:t>
                      </a:r>
                      <a:r>
                        <a:rPr lang="en-US" sz="1800" b="0" i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standardising</a:t>
                      </a: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format across all the data collected.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b="1" dirty="0" err="1"/>
                        <a:t>Regex</a:t>
                      </a:r>
                      <a:r>
                        <a:rPr lang="nl-BE" b="1" dirty="0"/>
                        <a:t>, Python </a:t>
                      </a:r>
                      <a:r>
                        <a:rPr lang="nl-BE" b="1" dirty="0" err="1"/>
                        <a:t>Pandas</a:t>
                      </a:r>
                      <a:r>
                        <a:rPr lang="nl-BE" b="1" dirty="0"/>
                        <a:t> </a:t>
                      </a:r>
                      <a:r>
                        <a:rPr lang="nl-BE" b="1" dirty="0" err="1"/>
                        <a:t>library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00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err="1"/>
                        <a:t>Explore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err="1"/>
                        <a:t>Inspecting</a:t>
                      </a:r>
                      <a:r>
                        <a:rPr lang="nl-BE"/>
                        <a:t> </a:t>
                      </a:r>
                      <a:r>
                        <a:rPr lang="nl-BE" err="1"/>
                        <a:t>and</a:t>
                      </a:r>
                      <a:r>
                        <a:rPr lang="nl-BE"/>
                        <a:t> </a:t>
                      </a:r>
                      <a:r>
                        <a:rPr lang="nl-BE" err="1"/>
                        <a:t>analyzing</a:t>
                      </a:r>
                      <a:r>
                        <a:rPr lang="nl-BE"/>
                        <a:t> </a:t>
                      </a:r>
                      <a:r>
                        <a:rPr lang="nl-BE" err="1"/>
                        <a:t>the</a:t>
                      </a:r>
                      <a:r>
                        <a:rPr lang="nl-BE"/>
                        <a:t> data </a:t>
                      </a:r>
                      <a:r>
                        <a:rPr lang="nl-BE" err="1"/>
                        <a:t>with</a:t>
                      </a:r>
                      <a:r>
                        <a:rPr lang="nl-BE"/>
                        <a:t> </a:t>
                      </a:r>
                      <a:r>
                        <a:rPr lang="nl-BE" err="1"/>
                        <a:t>descriptive</a:t>
                      </a:r>
                      <a:r>
                        <a:rPr lang="nl-BE"/>
                        <a:t> </a:t>
                      </a:r>
                      <a:r>
                        <a:rPr lang="nl-BE" err="1"/>
                        <a:t>statistics</a:t>
                      </a:r>
                      <a:r>
                        <a:rPr lang="nl-BE"/>
                        <a:t> (min-max-</a:t>
                      </a:r>
                      <a:r>
                        <a:rPr lang="nl-BE" err="1"/>
                        <a:t>mean</a:t>
                      </a:r>
                      <a:r>
                        <a:rPr lang="nl-BE"/>
                        <a:t>-</a:t>
                      </a:r>
                      <a:r>
                        <a:rPr lang="nl-BE" err="1"/>
                        <a:t>median-correlations-distributions</a:t>
                      </a:r>
                      <a:r>
                        <a:rPr lang="nl-BE"/>
                        <a:t>-…) </a:t>
                      </a:r>
                      <a:r>
                        <a:rPr lang="nl-BE" err="1"/>
                        <a:t>and</a:t>
                      </a:r>
                      <a:r>
                        <a:rPr lang="nl-BE"/>
                        <a:t>  basic </a:t>
                      </a:r>
                      <a:r>
                        <a:rPr lang="nl-BE" err="1"/>
                        <a:t>visualizations</a:t>
                      </a:r>
                      <a:r>
                        <a:rPr lang="nl-BE"/>
                        <a:t>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/>
                        <a:t>Python </a:t>
                      </a:r>
                      <a:r>
                        <a:rPr lang="nl-BE" err="1"/>
                        <a:t>libraries</a:t>
                      </a:r>
                      <a:r>
                        <a:rPr lang="nl-BE"/>
                        <a:t> like </a:t>
                      </a:r>
                      <a:r>
                        <a:rPr lang="nl-BE" b="1" err="1"/>
                        <a:t>NumPy</a:t>
                      </a:r>
                      <a:r>
                        <a:rPr lang="nl-BE" b="1"/>
                        <a:t> &amp; </a:t>
                      </a:r>
                      <a:r>
                        <a:rPr lang="nl-BE" b="1" err="1"/>
                        <a:t>Pandas</a:t>
                      </a:r>
                      <a:r>
                        <a:rPr lang="nl-BE" b="1"/>
                        <a:t> </a:t>
                      </a:r>
                      <a:br>
                        <a:rPr lang="nl-BE"/>
                      </a:br>
                      <a:r>
                        <a:rPr lang="nl-BE" err="1"/>
                        <a:t>Visualization</a:t>
                      </a:r>
                      <a:r>
                        <a:rPr lang="nl-BE"/>
                        <a:t> </a:t>
                      </a:r>
                      <a:r>
                        <a:rPr lang="nl-BE" err="1"/>
                        <a:t>libraries</a:t>
                      </a:r>
                      <a:r>
                        <a:rPr lang="nl-BE"/>
                        <a:t> like </a:t>
                      </a:r>
                      <a:r>
                        <a:rPr lang="nl-BE" b="1" err="1"/>
                        <a:t>MatPlotLib</a:t>
                      </a:r>
                      <a:r>
                        <a:rPr lang="nl-BE"/>
                        <a:t> &amp; </a:t>
                      </a:r>
                      <a:r>
                        <a:rPr lang="nl-BE" err="1"/>
                        <a:t>Seaborn</a:t>
                      </a:r>
                      <a:br>
                        <a:rPr lang="nl-BE"/>
                      </a:br>
                      <a:r>
                        <a:rPr lang="nl-BE" err="1"/>
                        <a:t>Visualization</a:t>
                      </a:r>
                      <a:r>
                        <a:rPr lang="nl-BE"/>
                        <a:t> tools like </a:t>
                      </a:r>
                      <a:r>
                        <a:rPr lang="nl-BE" err="1"/>
                        <a:t>Qlik</a:t>
                      </a:r>
                      <a:r>
                        <a:rPr lang="nl-BE"/>
                        <a:t>, Tableau, </a:t>
                      </a:r>
                      <a:r>
                        <a:rPr lang="nl-BE" err="1"/>
                        <a:t>PowerBI</a:t>
                      </a:r>
                      <a:r>
                        <a:rPr lang="nl-BE"/>
                        <a:t> 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8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/>
                        <a:t>Model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/>
                        <a:t>Setting up </a:t>
                      </a:r>
                      <a:r>
                        <a:rPr lang="nl-BE" err="1"/>
                        <a:t>models</a:t>
                      </a:r>
                      <a:r>
                        <a:rPr lang="nl-BE"/>
                        <a:t> </a:t>
                      </a: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forecast future values or classify and group values.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/>
                        <a:t>Python </a:t>
                      </a:r>
                      <a:r>
                        <a:rPr lang="nl-BE" err="1"/>
                        <a:t>libraries</a:t>
                      </a:r>
                      <a:r>
                        <a:rPr lang="nl-BE"/>
                        <a:t> like </a:t>
                      </a:r>
                      <a:r>
                        <a:rPr lang="nl-BE" err="1"/>
                        <a:t>SciKit</a:t>
                      </a:r>
                      <a:r>
                        <a:rPr lang="nl-BE"/>
                        <a:t> 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76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err="1"/>
                        <a:t>Interpret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Presenting the data to an audience. Delivering the results in such a way business questions are responded, and actionable insights are provided.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 libraries like Matplotlib &amp; </a:t>
                      </a:r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Seaborn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Javascript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libraries like </a:t>
                      </a:r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d3js </a:t>
                      </a:r>
                      <a:endParaRPr lang="en-US" dirty="0"/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Dashboarding tools like </a:t>
                      </a:r>
                      <a:r>
                        <a:rPr lang="nl-BE" dirty="0" err="1"/>
                        <a:t>Qlik</a:t>
                      </a:r>
                      <a:r>
                        <a:rPr lang="nl-BE" dirty="0"/>
                        <a:t>, Tableau, </a:t>
                      </a:r>
                      <a:r>
                        <a:rPr lang="nl-BE" dirty="0" err="1"/>
                        <a:t>PowerBI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82020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38533-A38C-4AF6-90DF-19F295838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29888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F8E8F-6B05-F45C-F237-5EF241207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[Stolen from R]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08499-4AE7-DE75-A4D2-6BCFD79E9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7342095" cy="4626069"/>
          </a:xfrm>
        </p:spPr>
        <p:txBody>
          <a:bodyPr>
            <a:normAutofit fontScale="92500"/>
          </a:bodyPr>
          <a:lstStyle/>
          <a:p>
            <a:r>
              <a:rPr lang="en-US" dirty="0"/>
              <a:t>Disclaimer: Sometimes we reuse slides</a:t>
            </a:r>
          </a:p>
          <a:p>
            <a:r>
              <a:rPr lang="en-US" dirty="0"/>
              <a:t>The following slides were reused from the course “Data science in R”</a:t>
            </a:r>
          </a:p>
          <a:p>
            <a:r>
              <a:rPr lang="en-US" dirty="0"/>
              <a:t>R is a very good language for statistics and it interacts really well with BI-tools</a:t>
            </a:r>
          </a:p>
          <a:p>
            <a:pPr lvl="1"/>
            <a:r>
              <a:rPr lang="en-US" dirty="0"/>
              <a:t>They’re being used by the same type of people</a:t>
            </a:r>
          </a:p>
          <a:p>
            <a:pPr lvl="1"/>
            <a:r>
              <a:rPr lang="en-US" dirty="0"/>
              <a:t>Programming in R is strange though</a:t>
            </a:r>
          </a:p>
          <a:p>
            <a:r>
              <a:rPr lang="en-US" dirty="0"/>
              <a:t>They explain when data is “tidy”, which is a big thing in R</a:t>
            </a:r>
          </a:p>
          <a:p>
            <a:r>
              <a:rPr lang="en-US" dirty="0"/>
              <a:t>We don’t have such a concept in Python,</a:t>
            </a:r>
            <a:br>
              <a:rPr lang="en-US" dirty="0"/>
            </a:br>
            <a:r>
              <a:rPr lang="en-US" b="1" dirty="0"/>
              <a:t>but we should </a:t>
            </a:r>
            <a:r>
              <a:rPr lang="en-US" dirty="0"/>
              <a:t>(and at the very least be aware of it)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4D233-3961-C0BB-2706-6DEDCB168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14</a:t>
            </a:fld>
            <a:endParaRPr lang="nl-BE"/>
          </a:p>
        </p:txBody>
      </p:sp>
      <p:pic>
        <p:nvPicPr>
          <p:cNvPr id="6" name="Picture 5" descr="A green recycle symbol with arrows around the earth&#10;&#10;AI-generated content may be incorrect.">
            <a:extLst>
              <a:ext uri="{FF2B5EF4-FFF2-40B4-BE49-F238E27FC236}">
                <a16:creationId xmlns:a16="http://schemas.microsoft.com/office/drawing/2014/main" id="{5062E2FA-F7E4-1656-F1EA-BBD4AD96C7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4176" y="1965774"/>
            <a:ext cx="3937824" cy="379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370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43F21F-B143-7BEB-7A2B-FF280F7F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Same data, different formats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0B171-9888-627F-53B1-A676AC91C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15</a:t>
            </a:fld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7D404-5096-5571-8D50-9D758D701440}"/>
              </a:ext>
            </a:extLst>
          </p:cNvPr>
          <p:cNvSpPr txBox="1"/>
          <p:nvPr/>
        </p:nvSpPr>
        <p:spPr>
          <a:xfrm>
            <a:off x="822354" y="1613118"/>
            <a:ext cx="3949221" cy="1815882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 dirty="0">
                <a:solidFill>
                  <a:srgbClr val="000000"/>
                </a:solidFill>
              </a:rPr>
              <a:t>  country      year  cases population</a:t>
            </a:r>
          </a:p>
          <a:p>
            <a:r>
              <a:rPr lang="en-GB" sz="1400" i="1" dirty="0">
                <a:solidFill>
                  <a:srgbClr val="B7A9B6"/>
                </a:solidFill>
              </a:rPr>
              <a:t>  &lt;chr&gt;       &lt;int&gt;  &lt;int&gt;      &lt;int&gt;</a:t>
            </a:r>
          </a:p>
          <a:p>
            <a:r>
              <a:rPr lang="en-GB" sz="1400" dirty="0">
                <a:solidFill>
                  <a:srgbClr val="000000"/>
                </a:solidFill>
              </a:rPr>
              <a:t>1 Afghanistan  1999    745   19987071</a:t>
            </a:r>
          </a:p>
          <a:p>
            <a:r>
              <a:rPr lang="en-GB" sz="1400" dirty="0">
                <a:solidFill>
                  <a:srgbClr val="000000"/>
                </a:solidFill>
              </a:rPr>
              <a:t>2 Afghanistan  2000   2666   20595360</a:t>
            </a:r>
          </a:p>
          <a:p>
            <a:r>
              <a:rPr lang="en-GB" sz="1400" dirty="0">
                <a:solidFill>
                  <a:srgbClr val="000000"/>
                </a:solidFill>
              </a:rPr>
              <a:t>3 Brazil       1999  37737  172006362</a:t>
            </a:r>
          </a:p>
          <a:p>
            <a:r>
              <a:rPr lang="en-GB" sz="1400" dirty="0">
                <a:solidFill>
                  <a:srgbClr val="000000"/>
                </a:solidFill>
              </a:rPr>
              <a:t>4 Brazil       2000  80488  174504898</a:t>
            </a:r>
          </a:p>
          <a:p>
            <a:r>
              <a:rPr lang="en-GB" sz="1400" dirty="0">
                <a:solidFill>
                  <a:srgbClr val="000000"/>
                </a:solidFill>
              </a:rPr>
              <a:t>5 China        1999 212258 1272915272</a:t>
            </a:r>
          </a:p>
          <a:p>
            <a:r>
              <a:rPr lang="en-GB" sz="1400" dirty="0">
                <a:solidFill>
                  <a:srgbClr val="000000"/>
                </a:solidFill>
              </a:rPr>
              <a:t>6 China        2000 213766 1280428583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5F75E9-CFAB-EB40-35AE-850A7F52BD5F}"/>
              </a:ext>
            </a:extLst>
          </p:cNvPr>
          <p:cNvSpPr txBox="1"/>
          <p:nvPr/>
        </p:nvSpPr>
        <p:spPr>
          <a:xfrm>
            <a:off x="5672499" y="1619858"/>
            <a:ext cx="4499942" cy="3108543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 country      year type            count</a:t>
            </a:r>
          </a:p>
          <a:p>
            <a:r>
              <a:rPr lang="en-GB" sz="1400" i="1">
                <a:solidFill>
                  <a:srgbClr val="B7A9B6"/>
                </a:solidFill>
              </a:rPr>
              <a:t>  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&lt;int&gt;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 1 Afghanistan  1999 cases             745</a:t>
            </a:r>
          </a:p>
          <a:p>
            <a:r>
              <a:rPr lang="en-GB" sz="1400">
                <a:solidFill>
                  <a:srgbClr val="000000"/>
                </a:solidFill>
              </a:rPr>
              <a:t> 2 Afghanistan  1999 population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 3 Afghanistan  2000 cases            2666</a:t>
            </a:r>
          </a:p>
          <a:p>
            <a:r>
              <a:rPr lang="en-GB" sz="1400">
                <a:solidFill>
                  <a:srgbClr val="000000"/>
                </a:solidFill>
              </a:rPr>
              <a:t> 4 Afghanistan  2000 population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 5 Brazil       1999 cases           37737</a:t>
            </a:r>
          </a:p>
          <a:p>
            <a:r>
              <a:rPr lang="en-GB" sz="1400">
                <a:solidFill>
                  <a:srgbClr val="000000"/>
                </a:solidFill>
              </a:rPr>
              <a:t> 6 Brazil       1999 population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 7 Brazil       2000 cases           80488</a:t>
            </a:r>
          </a:p>
          <a:p>
            <a:r>
              <a:rPr lang="en-GB" sz="1400">
                <a:solidFill>
                  <a:srgbClr val="000000"/>
                </a:solidFill>
              </a:rPr>
              <a:t> 8 Brazil       2000 population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 9 China        1999 cases          212258</a:t>
            </a:r>
          </a:p>
          <a:p>
            <a:r>
              <a:rPr lang="en-GB" sz="1400">
                <a:solidFill>
                  <a:srgbClr val="000000"/>
                </a:solidFill>
              </a:rPr>
              <a:t>10 China        1999 population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11 China        2000 cases          213766</a:t>
            </a:r>
          </a:p>
          <a:p>
            <a:r>
              <a:rPr lang="en-GB" sz="1400">
                <a:solidFill>
                  <a:srgbClr val="000000"/>
                </a:solidFill>
              </a:rPr>
              <a:t>12 China        2000 population 1280428583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3481F-46B6-A544-A757-E1FE4174962E}"/>
              </a:ext>
            </a:extLst>
          </p:cNvPr>
          <p:cNvSpPr txBox="1"/>
          <p:nvPr/>
        </p:nvSpPr>
        <p:spPr>
          <a:xfrm>
            <a:off x="822354" y="3832012"/>
            <a:ext cx="4059627" cy="1815882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rate             </a:t>
            </a:r>
          </a:p>
          <a:p>
            <a:r>
              <a:rPr lang="en-GB" sz="1400" i="1">
                <a:solidFill>
                  <a:srgbClr val="B7A9B6"/>
                </a:solidFill>
              </a:rPr>
              <a:t>* &lt;chr&gt;       &lt;int&gt; &lt;chr&gt;            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745/19987071     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2666/20595360    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37737/172006362  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80488/174504898  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212258/1272915272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213766/1280428583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997F4B-5BF7-3352-779D-32727EA03727}"/>
              </a:ext>
            </a:extLst>
          </p:cNvPr>
          <p:cNvSpPr txBox="1"/>
          <p:nvPr/>
        </p:nvSpPr>
        <p:spPr>
          <a:xfrm>
            <a:off x="8894973" y="5063120"/>
            <a:ext cx="3297027" cy="1169551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`1999`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</a:t>
            </a:r>
            <a:r>
              <a:rPr lang="en-GB" sz="1400" err="1">
                <a:solidFill>
                  <a:srgbClr val="000000"/>
                </a:solidFill>
              </a:rPr>
              <a:t>chr</a:t>
            </a:r>
            <a:r>
              <a:rPr lang="en-GB" sz="1400">
                <a:solidFill>
                  <a:srgbClr val="000000"/>
                </a:solidFill>
              </a:rPr>
              <a:t>&gt;        &lt;int&gt;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 745   2666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37737  80488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212258 213766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0E00AD-52AD-A09F-A3FE-DD4239297FAF}"/>
              </a:ext>
            </a:extLst>
          </p:cNvPr>
          <p:cNvSpPr txBox="1"/>
          <p:nvPr/>
        </p:nvSpPr>
        <p:spPr>
          <a:xfrm>
            <a:off x="5214827" y="5063120"/>
            <a:ext cx="3680146" cy="1169551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   `1999`    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&lt;chr&gt;          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19987071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172006362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1272915272 1280428583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CA87372-0EF7-A9A6-59F7-3108C63BF6D4}"/>
              </a:ext>
            </a:extLst>
          </p:cNvPr>
          <p:cNvSpPr/>
          <p:nvPr/>
        </p:nvSpPr>
        <p:spPr>
          <a:xfrm>
            <a:off x="343542" y="1764131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E9EC5AE-7A7F-8ACC-D956-5C2ED95222D9}"/>
              </a:ext>
            </a:extLst>
          </p:cNvPr>
          <p:cNvSpPr/>
          <p:nvPr/>
        </p:nvSpPr>
        <p:spPr>
          <a:xfrm>
            <a:off x="5137196" y="1613118"/>
            <a:ext cx="320511" cy="31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B572E41-7BB2-CF80-4AD8-386038DCB2C6}"/>
              </a:ext>
            </a:extLst>
          </p:cNvPr>
          <p:cNvSpPr/>
          <p:nvPr/>
        </p:nvSpPr>
        <p:spPr>
          <a:xfrm>
            <a:off x="343542" y="3915732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A21350-EA48-9306-4646-C2FBE480B532}"/>
              </a:ext>
            </a:extLst>
          </p:cNvPr>
          <p:cNvSpPr/>
          <p:nvPr/>
        </p:nvSpPr>
        <p:spPr>
          <a:xfrm>
            <a:off x="5214827" y="4634573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43406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DBB8-2A01-96C4-9D46-AC288F870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3 rules for data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CEDC8-E08B-2A29-617F-40D9A5D9F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Each variable must have its own column.</a:t>
            </a:r>
          </a:p>
          <a:p>
            <a:r>
              <a:rPr lang="en-US" noProof="0" dirty="0"/>
              <a:t>Each observation must have its own row.</a:t>
            </a:r>
          </a:p>
          <a:p>
            <a:r>
              <a:rPr lang="en-US" noProof="0" dirty="0"/>
              <a:t>Each value must have its own cell.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06239-B614-72EA-7991-AEB04CA61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16</a:t>
            </a:fld>
            <a:endParaRPr lang="nl-BE"/>
          </a:p>
        </p:txBody>
      </p:sp>
      <p:pic>
        <p:nvPicPr>
          <p:cNvPr id="5" name="Picture 2" descr="Following three rules makes a dataset tidy: variables are in columns, observations are in rows, and values are in cells.">
            <a:extLst>
              <a:ext uri="{FF2B5EF4-FFF2-40B4-BE49-F238E27FC236}">
                <a16:creationId xmlns:a16="http://schemas.microsoft.com/office/drawing/2014/main" id="{E93E2039-9DFA-587B-0DD9-9FC1325D5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828" y="3394049"/>
            <a:ext cx="9192344" cy="28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8566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43F21F-B143-7BEB-7A2B-FF280F7F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noProof="0" dirty="0"/>
              <a:t>Does each variable have its own column?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0B171-9888-627F-53B1-A676AC91C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17</a:t>
            </a:fld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7D404-5096-5571-8D50-9D758D701440}"/>
              </a:ext>
            </a:extLst>
          </p:cNvPr>
          <p:cNvSpPr txBox="1"/>
          <p:nvPr/>
        </p:nvSpPr>
        <p:spPr>
          <a:xfrm>
            <a:off x="822354" y="1613118"/>
            <a:ext cx="3949221" cy="1815882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 cases population</a:t>
            </a:r>
          </a:p>
          <a:p>
            <a:r>
              <a:rPr lang="en-GB" sz="1400" i="1">
                <a:solidFill>
                  <a:srgbClr val="B7A9B6"/>
                </a:solidFill>
              </a:rPr>
              <a:t>  &lt;chr&gt;       &lt;int&gt;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   745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  2666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 37737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 80488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 1280428583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5F75E9-CFAB-EB40-35AE-850A7F52BD5F}"/>
              </a:ext>
            </a:extLst>
          </p:cNvPr>
          <p:cNvSpPr txBox="1"/>
          <p:nvPr/>
        </p:nvSpPr>
        <p:spPr>
          <a:xfrm>
            <a:off x="5672499" y="1619858"/>
            <a:ext cx="4499942" cy="3108543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 country      year type            count</a:t>
            </a:r>
          </a:p>
          <a:p>
            <a:r>
              <a:rPr lang="en-GB" sz="1400" i="1">
                <a:solidFill>
                  <a:srgbClr val="B7A9B6"/>
                </a:solidFill>
              </a:rPr>
              <a:t>  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&lt;int&gt;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 1 Afghanistan  1999 cases             745</a:t>
            </a:r>
          </a:p>
          <a:p>
            <a:r>
              <a:rPr lang="en-GB" sz="1400">
                <a:solidFill>
                  <a:srgbClr val="000000"/>
                </a:solidFill>
              </a:rPr>
              <a:t> 2 Afghanistan  1999 population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 3 Afghanistan  2000 cases            2666</a:t>
            </a:r>
          </a:p>
          <a:p>
            <a:r>
              <a:rPr lang="en-GB" sz="1400">
                <a:solidFill>
                  <a:srgbClr val="000000"/>
                </a:solidFill>
              </a:rPr>
              <a:t> 4 Afghanistan  2000 population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 5 Brazil       1999 cases           37737</a:t>
            </a:r>
          </a:p>
          <a:p>
            <a:r>
              <a:rPr lang="en-GB" sz="1400">
                <a:solidFill>
                  <a:srgbClr val="000000"/>
                </a:solidFill>
              </a:rPr>
              <a:t> 6 Brazil       1999 population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 7 Brazil       2000 cases           80488</a:t>
            </a:r>
          </a:p>
          <a:p>
            <a:r>
              <a:rPr lang="en-GB" sz="1400">
                <a:solidFill>
                  <a:srgbClr val="000000"/>
                </a:solidFill>
              </a:rPr>
              <a:t> 8 Brazil       2000 population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 9 China        1999 cases          212258</a:t>
            </a:r>
          </a:p>
          <a:p>
            <a:r>
              <a:rPr lang="en-GB" sz="1400">
                <a:solidFill>
                  <a:srgbClr val="000000"/>
                </a:solidFill>
              </a:rPr>
              <a:t>10 China        1999 population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11 China        2000 cases          213766</a:t>
            </a:r>
          </a:p>
          <a:p>
            <a:r>
              <a:rPr lang="en-GB" sz="1400">
                <a:solidFill>
                  <a:srgbClr val="000000"/>
                </a:solidFill>
              </a:rPr>
              <a:t>12 China        2000 population 1280428583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3481F-46B6-A544-A757-E1FE4174962E}"/>
              </a:ext>
            </a:extLst>
          </p:cNvPr>
          <p:cNvSpPr txBox="1"/>
          <p:nvPr/>
        </p:nvSpPr>
        <p:spPr>
          <a:xfrm>
            <a:off x="822354" y="3832012"/>
            <a:ext cx="4059627" cy="1815882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rate             </a:t>
            </a:r>
          </a:p>
          <a:p>
            <a:r>
              <a:rPr lang="en-GB" sz="1400" i="1">
                <a:solidFill>
                  <a:srgbClr val="B7A9B6"/>
                </a:solidFill>
              </a:rPr>
              <a:t>* &lt;chr&gt;       &lt;int&gt; &lt;chr&gt;            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745/19987071     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2666/20595360    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37737/172006362  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80488/174504898  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212258/1272915272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213766/1280428583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997F4B-5BF7-3352-779D-32727EA03727}"/>
              </a:ext>
            </a:extLst>
          </p:cNvPr>
          <p:cNvSpPr txBox="1"/>
          <p:nvPr/>
        </p:nvSpPr>
        <p:spPr>
          <a:xfrm>
            <a:off x="8894973" y="5063120"/>
            <a:ext cx="3297027" cy="1169551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`1999`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</a:t>
            </a:r>
            <a:r>
              <a:rPr lang="en-GB" sz="1400" err="1">
                <a:solidFill>
                  <a:srgbClr val="000000"/>
                </a:solidFill>
              </a:rPr>
              <a:t>chr</a:t>
            </a:r>
            <a:r>
              <a:rPr lang="en-GB" sz="1400">
                <a:solidFill>
                  <a:srgbClr val="000000"/>
                </a:solidFill>
              </a:rPr>
              <a:t>&gt;        &lt;int&gt;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 745   2666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37737  80488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212258 213766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0E00AD-52AD-A09F-A3FE-DD4239297FAF}"/>
              </a:ext>
            </a:extLst>
          </p:cNvPr>
          <p:cNvSpPr txBox="1"/>
          <p:nvPr/>
        </p:nvSpPr>
        <p:spPr>
          <a:xfrm>
            <a:off x="5214827" y="5063120"/>
            <a:ext cx="3680146" cy="1169551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   `1999`    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&lt;chr&gt;          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19987071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172006362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1272915272 1280428583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CA87372-0EF7-A9A6-59F7-3108C63BF6D4}"/>
              </a:ext>
            </a:extLst>
          </p:cNvPr>
          <p:cNvSpPr/>
          <p:nvPr/>
        </p:nvSpPr>
        <p:spPr>
          <a:xfrm>
            <a:off x="343542" y="1764131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E9EC5AE-7A7F-8ACC-D956-5C2ED95222D9}"/>
              </a:ext>
            </a:extLst>
          </p:cNvPr>
          <p:cNvSpPr/>
          <p:nvPr/>
        </p:nvSpPr>
        <p:spPr>
          <a:xfrm>
            <a:off x="5137196" y="1613118"/>
            <a:ext cx="320511" cy="31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B572E41-7BB2-CF80-4AD8-386038DCB2C6}"/>
              </a:ext>
            </a:extLst>
          </p:cNvPr>
          <p:cNvSpPr/>
          <p:nvPr/>
        </p:nvSpPr>
        <p:spPr>
          <a:xfrm>
            <a:off x="343542" y="3915732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A21350-EA48-9306-4646-C2FBE480B532}"/>
              </a:ext>
            </a:extLst>
          </p:cNvPr>
          <p:cNvSpPr/>
          <p:nvPr/>
        </p:nvSpPr>
        <p:spPr>
          <a:xfrm>
            <a:off x="5214827" y="4634573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74791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9B9DB0-AD21-954A-9235-C50924886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noProof="0" dirty="0"/>
              <a:t>Each variable must have its own column</a:t>
            </a:r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E13728-9FBE-CB41-B00B-C935CF287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355" y="1984527"/>
            <a:ext cx="11291048" cy="4626069"/>
          </a:xfrm>
          <a:ln>
            <a:noFill/>
          </a:ln>
        </p:spPr>
        <p:txBody>
          <a:bodyPr lIns="0" rIns="0">
            <a:normAutofit/>
          </a:bodyPr>
          <a:lstStyle/>
          <a:p>
            <a:pPr marL="0" indent="0">
              <a:buNone/>
            </a:pPr>
            <a:endParaRPr lang="en-US" sz="2000" noProof="0" dirty="0"/>
          </a:p>
          <a:p>
            <a:pPr marL="0" indent="0">
              <a:buNone/>
            </a:pPr>
            <a:endParaRPr lang="en-US" sz="2000" noProof="0" dirty="0"/>
          </a:p>
          <a:p>
            <a:pPr marL="0" indent="0">
              <a:buNone/>
            </a:pPr>
            <a:endParaRPr lang="en-US" sz="2000" noProof="0" dirty="0"/>
          </a:p>
          <a:p>
            <a:pPr marL="0" indent="0">
              <a:buNone/>
            </a:pPr>
            <a:br>
              <a:rPr lang="en-US" sz="2000" noProof="0" dirty="0"/>
            </a:br>
            <a:endParaRPr lang="en-US" sz="20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DF702-68FC-F645-8BB5-B31E03D2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18</a:t>
            </a:fld>
            <a:endParaRPr lang="nl-B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CE32B8-8E72-944F-B532-D6287AB42CE7}"/>
              </a:ext>
            </a:extLst>
          </p:cNvPr>
          <p:cNvSpPr txBox="1"/>
          <p:nvPr/>
        </p:nvSpPr>
        <p:spPr>
          <a:xfrm>
            <a:off x="1149531" y="3265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BE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228986BC-6F8D-7144-97D7-FB57AE01933F}"/>
              </a:ext>
            </a:extLst>
          </p:cNvPr>
          <p:cNvSpPr txBox="1">
            <a:spLocks/>
          </p:cNvSpPr>
          <p:nvPr/>
        </p:nvSpPr>
        <p:spPr>
          <a:xfrm>
            <a:off x="4072589" y="1152644"/>
            <a:ext cx="4064399" cy="4428000"/>
          </a:xfrm>
          <a:prstGeom prst="rect">
            <a:avLst/>
          </a:prstGeom>
          <a:ln>
            <a:noFill/>
          </a:ln>
        </p:spPr>
        <p:txBody>
          <a:bodyPr vert="horz" lIns="0" tIns="252000" rIns="0" bIns="144000" rtlCol="0">
            <a:normAutofit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br>
              <a:rPr lang="en-BE"/>
            </a:br>
            <a:endParaRPr lang="en-BE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4163AFD7-B9F8-AC47-977D-C58A07A6E9C0}"/>
              </a:ext>
            </a:extLst>
          </p:cNvPr>
          <p:cNvSpPr txBox="1">
            <a:spLocks/>
          </p:cNvSpPr>
          <p:nvPr/>
        </p:nvSpPr>
        <p:spPr>
          <a:xfrm>
            <a:off x="8136389" y="1152000"/>
            <a:ext cx="4064399" cy="4428000"/>
          </a:xfrm>
          <a:prstGeom prst="rect">
            <a:avLst/>
          </a:prstGeom>
          <a:ln>
            <a:noFill/>
          </a:ln>
        </p:spPr>
        <p:txBody>
          <a:bodyPr vert="horz" lIns="0" tIns="252000" rIns="0" bIns="144000" rtlCol="0">
            <a:normAutofit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br>
              <a:rPr lang="en-BE"/>
            </a:br>
            <a:endParaRPr lang="en-B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CB46E8-93C2-C044-BD2E-9F5BBD277297}"/>
              </a:ext>
            </a:extLst>
          </p:cNvPr>
          <p:cNvSpPr txBox="1"/>
          <p:nvPr/>
        </p:nvSpPr>
        <p:spPr>
          <a:xfrm>
            <a:off x="532505" y="1678107"/>
            <a:ext cx="4004425" cy="1815882"/>
          </a:xfrm>
          <a:prstGeom prst="rect">
            <a:avLst/>
          </a:prstGeom>
          <a:solidFill>
            <a:srgbClr val="0C720B">
              <a:alpha val="25490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 cases population</a:t>
            </a:r>
          </a:p>
          <a:p>
            <a:r>
              <a:rPr lang="en-GB" sz="1400" i="1">
                <a:solidFill>
                  <a:srgbClr val="B7A9B6"/>
                </a:solidFill>
              </a:rPr>
              <a:t>  &lt;chr&gt;       &lt;int&gt;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   745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  2666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 37737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 80488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 1280428583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74D426-4CA0-6D44-AA36-997D791E29E4}"/>
              </a:ext>
            </a:extLst>
          </p:cNvPr>
          <p:cNvSpPr txBox="1"/>
          <p:nvPr/>
        </p:nvSpPr>
        <p:spPr>
          <a:xfrm>
            <a:off x="4947606" y="1646932"/>
            <a:ext cx="4499942" cy="3108543"/>
          </a:xfrm>
          <a:prstGeom prst="rect">
            <a:avLst/>
          </a:prstGeom>
          <a:solidFill>
            <a:srgbClr val="EC4B2E">
              <a:alpha val="24706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 country      year type            count</a:t>
            </a:r>
          </a:p>
          <a:p>
            <a:r>
              <a:rPr lang="en-GB" sz="1400" i="1">
                <a:solidFill>
                  <a:srgbClr val="B7A9B6"/>
                </a:solidFill>
              </a:rPr>
              <a:t>   &lt;chr&gt;       &lt;int&gt; &lt;chr&gt;     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 1 Afghanistan  1999 cases             745</a:t>
            </a:r>
          </a:p>
          <a:p>
            <a:r>
              <a:rPr lang="en-GB" sz="1400">
                <a:solidFill>
                  <a:srgbClr val="000000"/>
                </a:solidFill>
              </a:rPr>
              <a:t> 2 Afghanistan  1999 population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 3 Afghanistan  2000 cases            2666</a:t>
            </a:r>
          </a:p>
          <a:p>
            <a:r>
              <a:rPr lang="en-GB" sz="1400">
                <a:solidFill>
                  <a:srgbClr val="000000"/>
                </a:solidFill>
              </a:rPr>
              <a:t> 4 Afghanistan  2000 population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 5 Brazil       1999 cases           37737</a:t>
            </a:r>
          </a:p>
          <a:p>
            <a:r>
              <a:rPr lang="en-GB" sz="1400">
                <a:solidFill>
                  <a:srgbClr val="000000"/>
                </a:solidFill>
              </a:rPr>
              <a:t> 6 Brazil       1999 population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 7 Brazil       2000 cases           80488</a:t>
            </a:r>
          </a:p>
          <a:p>
            <a:r>
              <a:rPr lang="en-GB" sz="1400">
                <a:solidFill>
                  <a:srgbClr val="000000"/>
                </a:solidFill>
              </a:rPr>
              <a:t> 8 Brazil       2000 population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 9 China        1999 cases          212258</a:t>
            </a:r>
          </a:p>
          <a:p>
            <a:r>
              <a:rPr lang="en-GB" sz="1400">
                <a:solidFill>
                  <a:srgbClr val="000000"/>
                </a:solidFill>
              </a:rPr>
              <a:t>10 China        1999 population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11 China        2000 cases          213766</a:t>
            </a:r>
          </a:p>
          <a:p>
            <a:r>
              <a:rPr lang="en-GB" sz="1400">
                <a:solidFill>
                  <a:srgbClr val="000000"/>
                </a:solidFill>
              </a:rPr>
              <a:t>12 China        2000 population 1280428583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0E57CD-09A1-4E40-837D-0BC33DDBFCA1}"/>
              </a:ext>
            </a:extLst>
          </p:cNvPr>
          <p:cNvSpPr txBox="1"/>
          <p:nvPr/>
        </p:nvSpPr>
        <p:spPr>
          <a:xfrm>
            <a:off x="477303" y="3980397"/>
            <a:ext cx="4059627" cy="1815882"/>
          </a:xfrm>
          <a:prstGeom prst="rect">
            <a:avLst/>
          </a:prstGeom>
          <a:solidFill>
            <a:srgbClr val="EC4B2E">
              <a:alpha val="24706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rate             </a:t>
            </a:r>
          </a:p>
          <a:p>
            <a:r>
              <a:rPr lang="en-GB" sz="1400" i="1">
                <a:solidFill>
                  <a:srgbClr val="B7A9B6"/>
                </a:solidFill>
              </a:rPr>
              <a:t>*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&lt;int&gt;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     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745/19987071     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2666/20595360    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37737/172006362  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80488/174504898  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212258/1272915272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213766/1280428583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77FA09-48F4-E84D-834D-74A2AC10D15D}"/>
              </a:ext>
            </a:extLst>
          </p:cNvPr>
          <p:cNvSpPr txBox="1"/>
          <p:nvPr/>
        </p:nvSpPr>
        <p:spPr>
          <a:xfrm>
            <a:off x="8571898" y="5127785"/>
            <a:ext cx="3297027" cy="1169551"/>
          </a:xfrm>
          <a:prstGeom prst="rect">
            <a:avLst/>
          </a:prstGeom>
          <a:solidFill>
            <a:srgbClr val="EC4B2E">
              <a:alpha val="24706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`1999`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</a:t>
            </a:r>
            <a:r>
              <a:rPr lang="en-GB" sz="1400" err="1">
                <a:solidFill>
                  <a:srgbClr val="000000"/>
                </a:solidFill>
              </a:rPr>
              <a:t>chr</a:t>
            </a:r>
            <a:r>
              <a:rPr lang="en-GB" sz="1400">
                <a:solidFill>
                  <a:srgbClr val="000000"/>
                </a:solidFill>
              </a:rPr>
              <a:t>&gt;        &lt;int&gt;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 745   2666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37737  80488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212258 213766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6D50CB-C088-554F-B589-AF3DFE138529}"/>
              </a:ext>
            </a:extLst>
          </p:cNvPr>
          <p:cNvSpPr txBox="1"/>
          <p:nvPr/>
        </p:nvSpPr>
        <p:spPr>
          <a:xfrm>
            <a:off x="4891752" y="5127786"/>
            <a:ext cx="3680146" cy="1169551"/>
          </a:xfrm>
          <a:prstGeom prst="rect">
            <a:avLst/>
          </a:prstGeom>
          <a:solidFill>
            <a:srgbClr val="EC4B2E">
              <a:alpha val="24706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   `1999`    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</a:t>
            </a:r>
            <a:r>
              <a:rPr lang="en-GB" sz="1400" err="1">
                <a:solidFill>
                  <a:srgbClr val="000000"/>
                </a:solidFill>
              </a:rPr>
              <a:t>chr</a:t>
            </a:r>
            <a:r>
              <a:rPr lang="en-GB" sz="1400">
                <a:solidFill>
                  <a:srgbClr val="000000"/>
                </a:solidFill>
              </a:rPr>
              <a:t>&gt;          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19987071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172006362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1272915272 1280428583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16F1C5-0C9E-0A42-A4E6-BCACFFB2F8DB}"/>
              </a:ext>
            </a:extLst>
          </p:cNvPr>
          <p:cNvSpPr txBox="1"/>
          <p:nvPr/>
        </p:nvSpPr>
        <p:spPr>
          <a:xfrm>
            <a:off x="415679" y="5762666"/>
            <a:ext cx="5112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>
                <a:solidFill>
                  <a:srgbClr val="FF0000"/>
                </a:solidFill>
              </a:rPr>
              <a:t>One column contains two variables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69BEA0-A016-2B47-90BF-92316CD20613}"/>
              </a:ext>
            </a:extLst>
          </p:cNvPr>
          <p:cNvSpPr txBox="1"/>
          <p:nvPr/>
        </p:nvSpPr>
        <p:spPr>
          <a:xfrm>
            <a:off x="4847827" y="4842664"/>
            <a:ext cx="7021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>
                <a:solidFill>
                  <a:srgbClr val="FF0000"/>
                </a:solidFill>
              </a:rPr>
              <a:t>1999 and 2000 are not variables, they are values!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CC01DB-97C0-B746-AF1C-2B4DB7FBBA00}"/>
              </a:ext>
            </a:extLst>
          </p:cNvPr>
          <p:cNvSpPr txBox="1"/>
          <p:nvPr/>
        </p:nvSpPr>
        <p:spPr>
          <a:xfrm>
            <a:off x="9563706" y="1892070"/>
            <a:ext cx="18618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>
                <a:solidFill>
                  <a:srgbClr val="FF0000"/>
                </a:solidFill>
              </a:rPr>
              <a:t>type and count are </a:t>
            </a:r>
            <a:r>
              <a:rPr lang="nl-BE" sz="1600">
                <a:solidFill>
                  <a:srgbClr val="FF0000"/>
                </a:solidFill>
              </a:rPr>
              <a:t>no </a:t>
            </a:r>
            <a:r>
              <a:rPr lang="nl-BE" sz="1600" err="1">
                <a:solidFill>
                  <a:srgbClr val="FF0000"/>
                </a:solidFill>
              </a:rPr>
              <a:t>true</a:t>
            </a:r>
            <a:r>
              <a:rPr lang="nl-BE" sz="1600">
                <a:solidFill>
                  <a:srgbClr val="FF0000"/>
                </a:solidFill>
              </a:rPr>
              <a:t> variables </a:t>
            </a:r>
            <a:br>
              <a:rPr lang="nl-BE" sz="1600">
                <a:solidFill>
                  <a:srgbClr val="FF0000"/>
                </a:solidFill>
              </a:rPr>
            </a:br>
            <a:r>
              <a:rPr lang="nl-BE" sz="1600">
                <a:solidFill>
                  <a:srgbClr val="FF0000"/>
                </a:solidFill>
              </a:rPr>
              <a:t>(= </a:t>
            </a:r>
            <a:r>
              <a:rPr lang="nl-BE" sz="1600" err="1">
                <a:solidFill>
                  <a:srgbClr val="FF0000"/>
                </a:solidFill>
              </a:rPr>
              <a:t>characteristics</a:t>
            </a:r>
            <a:r>
              <a:rPr lang="nl-BE" sz="1600">
                <a:solidFill>
                  <a:srgbClr val="FF0000"/>
                </a:solidFill>
              </a:rPr>
              <a:t> of </a:t>
            </a:r>
            <a:r>
              <a:rPr lang="nl-BE" sz="1600" err="1">
                <a:solidFill>
                  <a:srgbClr val="FF0000"/>
                </a:solidFill>
              </a:rPr>
              <a:t>the</a:t>
            </a:r>
            <a:r>
              <a:rPr lang="nl-BE" sz="1600">
                <a:solidFill>
                  <a:srgbClr val="FF0000"/>
                </a:solidFill>
              </a:rPr>
              <a:t> </a:t>
            </a:r>
            <a:r>
              <a:rPr lang="nl-BE" sz="1600" err="1">
                <a:solidFill>
                  <a:srgbClr val="FF0000"/>
                </a:solidFill>
              </a:rPr>
              <a:t>observation</a:t>
            </a:r>
            <a:r>
              <a:rPr lang="nl-BE" sz="1600">
                <a:solidFill>
                  <a:srgbClr val="FF0000"/>
                </a:solidFill>
              </a:rPr>
              <a:t> object)</a:t>
            </a:r>
          </a:p>
        </p:txBody>
      </p:sp>
    </p:spTree>
    <p:extLst>
      <p:ext uri="{BB962C8B-B14F-4D97-AF65-F5344CB8AC3E}">
        <p14:creationId xmlns:p14="http://schemas.microsoft.com/office/powerpoint/2010/main" val="412658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43F21F-B143-7BEB-7A2B-FF280F7F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noProof="0" dirty="0"/>
              <a:t>Does each observation have its own row?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0B171-9888-627F-53B1-A676AC91C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19</a:t>
            </a:fld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7D404-5096-5571-8D50-9D758D701440}"/>
              </a:ext>
            </a:extLst>
          </p:cNvPr>
          <p:cNvSpPr txBox="1"/>
          <p:nvPr/>
        </p:nvSpPr>
        <p:spPr>
          <a:xfrm>
            <a:off x="822354" y="1613118"/>
            <a:ext cx="3949221" cy="1815882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 cases population</a:t>
            </a:r>
          </a:p>
          <a:p>
            <a:r>
              <a:rPr lang="en-GB" sz="1400" i="1">
                <a:solidFill>
                  <a:srgbClr val="B7A9B6"/>
                </a:solidFill>
              </a:rPr>
              <a:t>  &lt;chr&gt;       &lt;int&gt;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   745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  2666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 37737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 80488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 1280428583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5F75E9-CFAB-EB40-35AE-850A7F52BD5F}"/>
              </a:ext>
            </a:extLst>
          </p:cNvPr>
          <p:cNvSpPr txBox="1"/>
          <p:nvPr/>
        </p:nvSpPr>
        <p:spPr>
          <a:xfrm>
            <a:off x="5672499" y="1619858"/>
            <a:ext cx="4499942" cy="3108543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 country      year type            count</a:t>
            </a:r>
          </a:p>
          <a:p>
            <a:r>
              <a:rPr lang="en-GB" sz="1400" i="1">
                <a:solidFill>
                  <a:srgbClr val="B7A9B6"/>
                </a:solidFill>
              </a:rPr>
              <a:t>  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&lt;int&gt;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 1 Afghanistan  1999 cases             745</a:t>
            </a:r>
          </a:p>
          <a:p>
            <a:r>
              <a:rPr lang="en-GB" sz="1400">
                <a:solidFill>
                  <a:srgbClr val="000000"/>
                </a:solidFill>
              </a:rPr>
              <a:t> 2 Afghanistan  1999 population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 3 Afghanistan  2000 cases            2666</a:t>
            </a:r>
          </a:p>
          <a:p>
            <a:r>
              <a:rPr lang="en-GB" sz="1400">
                <a:solidFill>
                  <a:srgbClr val="000000"/>
                </a:solidFill>
              </a:rPr>
              <a:t> 4 Afghanistan  2000 population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 5 Brazil       1999 cases           37737</a:t>
            </a:r>
          </a:p>
          <a:p>
            <a:r>
              <a:rPr lang="en-GB" sz="1400">
                <a:solidFill>
                  <a:srgbClr val="000000"/>
                </a:solidFill>
              </a:rPr>
              <a:t> 6 Brazil       1999 population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 7 Brazil       2000 cases           80488</a:t>
            </a:r>
          </a:p>
          <a:p>
            <a:r>
              <a:rPr lang="en-GB" sz="1400">
                <a:solidFill>
                  <a:srgbClr val="000000"/>
                </a:solidFill>
              </a:rPr>
              <a:t> 8 Brazil       2000 population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 9 China        1999 cases          212258</a:t>
            </a:r>
          </a:p>
          <a:p>
            <a:r>
              <a:rPr lang="en-GB" sz="1400">
                <a:solidFill>
                  <a:srgbClr val="000000"/>
                </a:solidFill>
              </a:rPr>
              <a:t>10 China        1999 population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11 China        2000 cases          213766</a:t>
            </a:r>
          </a:p>
          <a:p>
            <a:r>
              <a:rPr lang="en-GB" sz="1400">
                <a:solidFill>
                  <a:srgbClr val="000000"/>
                </a:solidFill>
              </a:rPr>
              <a:t>12 China        2000 population 1280428583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3481F-46B6-A544-A757-E1FE4174962E}"/>
              </a:ext>
            </a:extLst>
          </p:cNvPr>
          <p:cNvSpPr txBox="1"/>
          <p:nvPr/>
        </p:nvSpPr>
        <p:spPr>
          <a:xfrm>
            <a:off x="822354" y="3832012"/>
            <a:ext cx="4059627" cy="1815882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rate             </a:t>
            </a:r>
          </a:p>
          <a:p>
            <a:r>
              <a:rPr lang="en-GB" sz="1400" i="1">
                <a:solidFill>
                  <a:srgbClr val="B7A9B6"/>
                </a:solidFill>
              </a:rPr>
              <a:t>* &lt;chr&gt;       &lt;int&gt; &lt;chr&gt;            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745/19987071     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2666/20595360    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37737/172006362  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80488/174504898  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212258/1272915272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213766/1280428583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997F4B-5BF7-3352-779D-32727EA03727}"/>
              </a:ext>
            </a:extLst>
          </p:cNvPr>
          <p:cNvSpPr txBox="1"/>
          <p:nvPr/>
        </p:nvSpPr>
        <p:spPr>
          <a:xfrm>
            <a:off x="8894973" y="5063120"/>
            <a:ext cx="3297027" cy="1169551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`1999`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</a:t>
            </a:r>
            <a:r>
              <a:rPr lang="en-GB" sz="1400" err="1">
                <a:solidFill>
                  <a:srgbClr val="000000"/>
                </a:solidFill>
              </a:rPr>
              <a:t>chr</a:t>
            </a:r>
            <a:r>
              <a:rPr lang="en-GB" sz="1400">
                <a:solidFill>
                  <a:srgbClr val="000000"/>
                </a:solidFill>
              </a:rPr>
              <a:t>&gt;        &lt;int&gt;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 745   2666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37737  80488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212258 213766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0E00AD-52AD-A09F-A3FE-DD4239297FAF}"/>
              </a:ext>
            </a:extLst>
          </p:cNvPr>
          <p:cNvSpPr txBox="1"/>
          <p:nvPr/>
        </p:nvSpPr>
        <p:spPr>
          <a:xfrm>
            <a:off x="5214827" y="5063120"/>
            <a:ext cx="3680146" cy="1169551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   `1999`    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&lt;chr&gt;          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19987071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172006362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1272915272 1280428583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CA87372-0EF7-A9A6-59F7-3108C63BF6D4}"/>
              </a:ext>
            </a:extLst>
          </p:cNvPr>
          <p:cNvSpPr/>
          <p:nvPr/>
        </p:nvSpPr>
        <p:spPr>
          <a:xfrm>
            <a:off x="343542" y="1764131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E9EC5AE-7A7F-8ACC-D956-5C2ED95222D9}"/>
              </a:ext>
            </a:extLst>
          </p:cNvPr>
          <p:cNvSpPr/>
          <p:nvPr/>
        </p:nvSpPr>
        <p:spPr>
          <a:xfrm>
            <a:off x="5137196" y="1613118"/>
            <a:ext cx="320511" cy="31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B572E41-7BB2-CF80-4AD8-386038DCB2C6}"/>
              </a:ext>
            </a:extLst>
          </p:cNvPr>
          <p:cNvSpPr/>
          <p:nvPr/>
        </p:nvSpPr>
        <p:spPr>
          <a:xfrm>
            <a:off x="343542" y="3915732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A21350-EA48-9306-4646-C2FBE480B532}"/>
              </a:ext>
            </a:extLst>
          </p:cNvPr>
          <p:cNvSpPr/>
          <p:nvPr/>
        </p:nvSpPr>
        <p:spPr>
          <a:xfrm>
            <a:off x="5214827" y="4634573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55412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9B9DB0-AD21-954A-9235-C50924886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noProof="0" dirty="0"/>
              <a:t>Each observation must have its own row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DF702-68FC-F645-8BB5-B31E03D2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20</a:t>
            </a:fld>
            <a:endParaRPr lang="nl-B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CE32B8-8E72-944F-B532-D6287AB42CE7}"/>
              </a:ext>
            </a:extLst>
          </p:cNvPr>
          <p:cNvSpPr txBox="1"/>
          <p:nvPr/>
        </p:nvSpPr>
        <p:spPr>
          <a:xfrm>
            <a:off x="1149531" y="3265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BE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228986BC-6F8D-7144-97D7-FB57AE01933F}"/>
              </a:ext>
            </a:extLst>
          </p:cNvPr>
          <p:cNvSpPr txBox="1">
            <a:spLocks/>
          </p:cNvSpPr>
          <p:nvPr/>
        </p:nvSpPr>
        <p:spPr>
          <a:xfrm>
            <a:off x="4072589" y="1152644"/>
            <a:ext cx="4064399" cy="4428000"/>
          </a:xfrm>
          <a:prstGeom prst="rect">
            <a:avLst/>
          </a:prstGeom>
          <a:ln>
            <a:noFill/>
          </a:ln>
        </p:spPr>
        <p:txBody>
          <a:bodyPr vert="horz" lIns="0" tIns="252000" rIns="0" bIns="144000" rtlCol="0">
            <a:normAutofit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br>
              <a:rPr lang="en-BE"/>
            </a:br>
            <a:endParaRPr lang="en-BE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4163AFD7-B9F8-AC47-977D-C58A07A6E9C0}"/>
              </a:ext>
            </a:extLst>
          </p:cNvPr>
          <p:cNvSpPr txBox="1">
            <a:spLocks/>
          </p:cNvSpPr>
          <p:nvPr/>
        </p:nvSpPr>
        <p:spPr>
          <a:xfrm>
            <a:off x="8136389" y="1152000"/>
            <a:ext cx="4064399" cy="4428000"/>
          </a:xfrm>
          <a:prstGeom prst="rect">
            <a:avLst/>
          </a:prstGeom>
          <a:ln>
            <a:noFill/>
          </a:ln>
        </p:spPr>
        <p:txBody>
          <a:bodyPr vert="horz" lIns="0" tIns="252000" rIns="0" bIns="144000" rtlCol="0">
            <a:normAutofit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br>
              <a:rPr lang="en-BE"/>
            </a:br>
            <a:endParaRPr lang="en-B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CB46E8-93C2-C044-BD2E-9F5BBD277297}"/>
              </a:ext>
            </a:extLst>
          </p:cNvPr>
          <p:cNvSpPr txBox="1"/>
          <p:nvPr/>
        </p:nvSpPr>
        <p:spPr>
          <a:xfrm>
            <a:off x="344275" y="1813886"/>
            <a:ext cx="4026879" cy="1815882"/>
          </a:xfrm>
          <a:prstGeom prst="rect">
            <a:avLst/>
          </a:prstGeom>
          <a:solidFill>
            <a:srgbClr val="0C720B">
              <a:alpha val="25490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 cases population</a:t>
            </a:r>
          </a:p>
          <a:p>
            <a:r>
              <a:rPr lang="en-GB" sz="1400" i="1">
                <a:solidFill>
                  <a:srgbClr val="B7A9B6"/>
                </a:solidFill>
              </a:rPr>
              <a:t> 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&lt;int&gt;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   745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  2666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 37737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 80488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 1280428583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74D426-4CA0-6D44-AA36-997D791E29E4}"/>
              </a:ext>
            </a:extLst>
          </p:cNvPr>
          <p:cNvSpPr txBox="1"/>
          <p:nvPr/>
        </p:nvSpPr>
        <p:spPr>
          <a:xfrm>
            <a:off x="4758031" y="1502248"/>
            <a:ext cx="4499942" cy="3108543"/>
          </a:xfrm>
          <a:prstGeom prst="rect">
            <a:avLst/>
          </a:prstGeom>
          <a:solidFill>
            <a:srgbClr val="EC4B2E">
              <a:alpha val="24706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 country      year type            count</a:t>
            </a:r>
          </a:p>
          <a:p>
            <a:r>
              <a:rPr lang="en-GB" sz="1400" i="1">
                <a:solidFill>
                  <a:srgbClr val="B7A9B6"/>
                </a:solidFill>
              </a:rPr>
              <a:t>  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&lt;int&gt;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 1 Afghanistan  1999 cases             745</a:t>
            </a:r>
          </a:p>
          <a:p>
            <a:r>
              <a:rPr lang="en-GB" sz="1400">
                <a:solidFill>
                  <a:srgbClr val="000000"/>
                </a:solidFill>
              </a:rPr>
              <a:t> 2 Afghanistan  1999 population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 3 Afghanistan  2000 cases            2666</a:t>
            </a:r>
          </a:p>
          <a:p>
            <a:r>
              <a:rPr lang="en-GB" sz="1400">
                <a:solidFill>
                  <a:srgbClr val="000000"/>
                </a:solidFill>
              </a:rPr>
              <a:t> 4 Afghanistan  2000 population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 5 Brazil       1999 cases           37737</a:t>
            </a:r>
          </a:p>
          <a:p>
            <a:r>
              <a:rPr lang="en-GB" sz="1400">
                <a:solidFill>
                  <a:srgbClr val="000000"/>
                </a:solidFill>
              </a:rPr>
              <a:t> 6 Brazil       1999 population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 7 Brazil       2000 cases           80488</a:t>
            </a:r>
          </a:p>
          <a:p>
            <a:r>
              <a:rPr lang="en-GB" sz="1400">
                <a:solidFill>
                  <a:srgbClr val="000000"/>
                </a:solidFill>
              </a:rPr>
              <a:t> 8 Brazil       2000 population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 9 China        1999 cases          212258</a:t>
            </a:r>
          </a:p>
          <a:p>
            <a:r>
              <a:rPr lang="en-GB" sz="1400">
                <a:solidFill>
                  <a:srgbClr val="000000"/>
                </a:solidFill>
              </a:rPr>
              <a:t>10 China        1999 population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11 China        2000 cases          213766</a:t>
            </a:r>
          </a:p>
          <a:p>
            <a:r>
              <a:rPr lang="en-GB" sz="1400">
                <a:solidFill>
                  <a:srgbClr val="000000"/>
                </a:solidFill>
              </a:rPr>
              <a:t>12 China        2000 population 1280428583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0E57CD-09A1-4E40-837D-0BC33DDBFCA1}"/>
              </a:ext>
            </a:extLst>
          </p:cNvPr>
          <p:cNvSpPr txBox="1"/>
          <p:nvPr/>
        </p:nvSpPr>
        <p:spPr>
          <a:xfrm>
            <a:off x="344275" y="3913458"/>
            <a:ext cx="4059627" cy="1815882"/>
          </a:xfrm>
          <a:prstGeom prst="rect">
            <a:avLst/>
          </a:prstGeom>
          <a:solidFill>
            <a:srgbClr val="0C720B">
              <a:alpha val="25490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rate             </a:t>
            </a:r>
          </a:p>
          <a:p>
            <a:r>
              <a:rPr lang="en-GB" sz="1400" i="1">
                <a:solidFill>
                  <a:srgbClr val="B7A9B6"/>
                </a:solidFill>
              </a:rPr>
              <a:t>* &lt;chr&gt;       &lt;int&gt; &lt;chr&gt;            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745/19987071     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2666/20595360    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37737/172006362  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80488/174504898  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212258/1272915272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213766/1280428583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77FA09-48F4-E84D-834D-74A2AC10D15D}"/>
              </a:ext>
            </a:extLst>
          </p:cNvPr>
          <p:cNvSpPr txBox="1"/>
          <p:nvPr/>
        </p:nvSpPr>
        <p:spPr>
          <a:xfrm>
            <a:off x="8650053" y="5067599"/>
            <a:ext cx="3297027" cy="1169551"/>
          </a:xfrm>
          <a:prstGeom prst="rect">
            <a:avLst/>
          </a:prstGeom>
          <a:solidFill>
            <a:srgbClr val="EC4B2E">
              <a:alpha val="24706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`1999`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&lt;chr&gt;        &lt;int&gt;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 745   2666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37737  80488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212258 213766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6D50CB-C088-554F-B589-AF3DFE138529}"/>
              </a:ext>
            </a:extLst>
          </p:cNvPr>
          <p:cNvSpPr txBox="1"/>
          <p:nvPr/>
        </p:nvSpPr>
        <p:spPr>
          <a:xfrm>
            <a:off x="4815924" y="5067599"/>
            <a:ext cx="3680146" cy="1169551"/>
          </a:xfrm>
          <a:prstGeom prst="rect">
            <a:avLst/>
          </a:prstGeom>
          <a:solidFill>
            <a:srgbClr val="EC4B2E">
              <a:alpha val="24706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   `1999`    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</a:t>
            </a:r>
            <a:r>
              <a:rPr lang="en-GB" sz="1400" err="1">
                <a:solidFill>
                  <a:srgbClr val="000000"/>
                </a:solidFill>
              </a:rPr>
              <a:t>chr</a:t>
            </a:r>
            <a:r>
              <a:rPr lang="en-GB" sz="1400">
                <a:solidFill>
                  <a:srgbClr val="000000"/>
                </a:solidFill>
              </a:rPr>
              <a:t>&gt;          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19987071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172006362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1272915272 1280428583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3735B5-185D-A849-96E6-CACFE02F467D}"/>
              </a:ext>
            </a:extLst>
          </p:cNvPr>
          <p:cNvSpPr txBox="1"/>
          <p:nvPr/>
        </p:nvSpPr>
        <p:spPr>
          <a:xfrm>
            <a:off x="4758031" y="4718935"/>
            <a:ext cx="7021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>
                <a:solidFill>
                  <a:srgbClr val="FF0000"/>
                </a:solidFill>
              </a:rPr>
              <a:t>Observations spread across two tables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1168E1-53B6-294A-A6DE-F5B8A6B901A8}"/>
              </a:ext>
            </a:extLst>
          </p:cNvPr>
          <p:cNvSpPr txBox="1"/>
          <p:nvPr/>
        </p:nvSpPr>
        <p:spPr>
          <a:xfrm>
            <a:off x="9280894" y="1969788"/>
            <a:ext cx="2592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>
                <a:solidFill>
                  <a:srgbClr val="FF0000"/>
                </a:solidFill>
              </a:rPr>
              <a:t>2</a:t>
            </a:r>
            <a:r>
              <a:rPr lang="en-BE" sz="1600">
                <a:solidFill>
                  <a:srgbClr val="FF0000"/>
                </a:solidFill>
              </a:rPr>
              <a:t> rows per observation</a:t>
            </a:r>
          </a:p>
        </p:txBody>
      </p:sp>
    </p:spTree>
    <p:extLst>
      <p:ext uri="{BB962C8B-B14F-4D97-AF65-F5344CB8AC3E}">
        <p14:creationId xmlns:p14="http://schemas.microsoft.com/office/powerpoint/2010/main" val="3153470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43F21F-B143-7BEB-7A2B-FF280F7F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Does e</a:t>
            </a:r>
            <a:r>
              <a:rPr lang="en-US" sz="4400" noProof="0" dirty="0"/>
              <a:t>ach value have its own cell?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0B171-9888-627F-53B1-A676AC91C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21</a:t>
            </a:fld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7D404-5096-5571-8D50-9D758D701440}"/>
              </a:ext>
            </a:extLst>
          </p:cNvPr>
          <p:cNvSpPr txBox="1"/>
          <p:nvPr/>
        </p:nvSpPr>
        <p:spPr>
          <a:xfrm>
            <a:off x="822354" y="1613118"/>
            <a:ext cx="3949221" cy="1815882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 cases population</a:t>
            </a:r>
          </a:p>
          <a:p>
            <a:r>
              <a:rPr lang="en-GB" sz="1400" i="1">
                <a:solidFill>
                  <a:srgbClr val="B7A9B6"/>
                </a:solidFill>
              </a:rPr>
              <a:t>  &lt;chr&gt;       &lt;int&gt;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   745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  2666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 37737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 80488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 1280428583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5F75E9-CFAB-EB40-35AE-850A7F52BD5F}"/>
              </a:ext>
            </a:extLst>
          </p:cNvPr>
          <p:cNvSpPr txBox="1"/>
          <p:nvPr/>
        </p:nvSpPr>
        <p:spPr>
          <a:xfrm>
            <a:off x="5672499" y="1619858"/>
            <a:ext cx="4499942" cy="3108543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 country      year type            count</a:t>
            </a:r>
          </a:p>
          <a:p>
            <a:r>
              <a:rPr lang="en-GB" sz="1400" i="1">
                <a:solidFill>
                  <a:srgbClr val="B7A9B6"/>
                </a:solidFill>
              </a:rPr>
              <a:t>  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&lt;int&gt;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 1 Afghanistan  1999 cases             745</a:t>
            </a:r>
          </a:p>
          <a:p>
            <a:r>
              <a:rPr lang="en-GB" sz="1400">
                <a:solidFill>
                  <a:srgbClr val="000000"/>
                </a:solidFill>
              </a:rPr>
              <a:t> 2 Afghanistan  1999 population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 3 Afghanistan  2000 cases            2666</a:t>
            </a:r>
          </a:p>
          <a:p>
            <a:r>
              <a:rPr lang="en-GB" sz="1400">
                <a:solidFill>
                  <a:srgbClr val="000000"/>
                </a:solidFill>
              </a:rPr>
              <a:t> 4 Afghanistan  2000 population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 5 Brazil       1999 cases           37737</a:t>
            </a:r>
          </a:p>
          <a:p>
            <a:r>
              <a:rPr lang="en-GB" sz="1400">
                <a:solidFill>
                  <a:srgbClr val="000000"/>
                </a:solidFill>
              </a:rPr>
              <a:t> 6 Brazil       1999 population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 7 Brazil       2000 cases           80488</a:t>
            </a:r>
          </a:p>
          <a:p>
            <a:r>
              <a:rPr lang="en-GB" sz="1400">
                <a:solidFill>
                  <a:srgbClr val="000000"/>
                </a:solidFill>
              </a:rPr>
              <a:t> 8 Brazil       2000 population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 9 China        1999 cases          212258</a:t>
            </a:r>
          </a:p>
          <a:p>
            <a:r>
              <a:rPr lang="en-GB" sz="1400">
                <a:solidFill>
                  <a:srgbClr val="000000"/>
                </a:solidFill>
              </a:rPr>
              <a:t>10 China        1999 population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11 China        2000 cases          213766</a:t>
            </a:r>
          </a:p>
          <a:p>
            <a:r>
              <a:rPr lang="en-GB" sz="1400">
                <a:solidFill>
                  <a:srgbClr val="000000"/>
                </a:solidFill>
              </a:rPr>
              <a:t>12 China        2000 population 1280428583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3481F-46B6-A544-A757-E1FE4174962E}"/>
              </a:ext>
            </a:extLst>
          </p:cNvPr>
          <p:cNvSpPr txBox="1"/>
          <p:nvPr/>
        </p:nvSpPr>
        <p:spPr>
          <a:xfrm>
            <a:off x="822354" y="3832012"/>
            <a:ext cx="4059627" cy="1815882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rate             </a:t>
            </a:r>
          </a:p>
          <a:p>
            <a:r>
              <a:rPr lang="en-GB" sz="1400" i="1">
                <a:solidFill>
                  <a:srgbClr val="B7A9B6"/>
                </a:solidFill>
              </a:rPr>
              <a:t>* &lt;chr&gt;       &lt;int&gt; &lt;chr&gt;            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745/19987071     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2666/20595360    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37737/172006362  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80488/174504898  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212258/1272915272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213766/1280428583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997F4B-5BF7-3352-779D-32727EA03727}"/>
              </a:ext>
            </a:extLst>
          </p:cNvPr>
          <p:cNvSpPr txBox="1"/>
          <p:nvPr/>
        </p:nvSpPr>
        <p:spPr>
          <a:xfrm>
            <a:off x="8894973" y="5063120"/>
            <a:ext cx="3297027" cy="1169551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`1999`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</a:t>
            </a:r>
            <a:r>
              <a:rPr lang="en-GB" sz="1400" err="1">
                <a:solidFill>
                  <a:srgbClr val="000000"/>
                </a:solidFill>
              </a:rPr>
              <a:t>chr</a:t>
            </a:r>
            <a:r>
              <a:rPr lang="en-GB" sz="1400">
                <a:solidFill>
                  <a:srgbClr val="000000"/>
                </a:solidFill>
              </a:rPr>
              <a:t>&gt;        &lt;int&gt;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 745   2666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37737  80488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212258 213766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0E00AD-52AD-A09F-A3FE-DD4239297FAF}"/>
              </a:ext>
            </a:extLst>
          </p:cNvPr>
          <p:cNvSpPr txBox="1"/>
          <p:nvPr/>
        </p:nvSpPr>
        <p:spPr>
          <a:xfrm>
            <a:off x="5214827" y="5063120"/>
            <a:ext cx="3680146" cy="1169551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   `1999`    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&lt;chr&gt;          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19987071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172006362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1272915272 1280428583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CA87372-0EF7-A9A6-59F7-3108C63BF6D4}"/>
              </a:ext>
            </a:extLst>
          </p:cNvPr>
          <p:cNvSpPr/>
          <p:nvPr/>
        </p:nvSpPr>
        <p:spPr>
          <a:xfrm>
            <a:off x="343542" y="1764131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E9EC5AE-7A7F-8ACC-D956-5C2ED95222D9}"/>
              </a:ext>
            </a:extLst>
          </p:cNvPr>
          <p:cNvSpPr/>
          <p:nvPr/>
        </p:nvSpPr>
        <p:spPr>
          <a:xfrm>
            <a:off x="5137196" y="1613118"/>
            <a:ext cx="320511" cy="31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B572E41-7BB2-CF80-4AD8-386038DCB2C6}"/>
              </a:ext>
            </a:extLst>
          </p:cNvPr>
          <p:cNvSpPr/>
          <p:nvPr/>
        </p:nvSpPr>
        <p:spPr>
          <a:xfrm>
            <a:off x="343542" y="3915732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A21350-EA48-9306-4646-C2FBE480B532}"/>
              </a:ext>
            </a:extLst>
          </p:cNvPr>
          <p:cNvSpPr/>
          <p:nvPr/>
        </p:nvSpPr>
        <p:spPr>
          <a:xfrm>
            <a:off x="5214827" y="4634573"/>
            <a:ext cx="320511" cy="290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44342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9B9DB0-AD21-954A-9235-C50924886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noProof="0" dirty="0"/>
              <a:t>Each value must have its own cell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DF702-68FC-F645-8BB5-B31E03D2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22</a:t>
            </a:fld>
            <a:endParaRPr lang="nl-B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CE32B8-8E72-944F-B532-D6287AB42CE7}"/>
              </a:ext>
            </a:extLst>
          </p:cNvPr>
          <p:cNvSpPr txBox="1"/>
          <p:nvPr/>
        </p:nvSpPr>
        <p:spPr>
          <a:xfrm>
            <a:off x="1149531" y="3265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BE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228986BC-6F8D-7144-97D7-FB57AE01933F}"/>
              </a:ext>
            </a:extLst>
          </p:cNvPr>
          <p:cNvSpPr txBox="1">
            <a:spLocks/>
          </p:cNvSpPr>
          <p:nvPr/>
        </p:nvSpPr>
        <p:spPr>
          <a:xfrm>
            <a:off x="4072589" y="1152644"/>
            <a:ext cx="4064399" cy="4428000"/>
          </a:xfrm>
          <a:prstGeom prst="rect">
            <a:avLst/>
          </a:prstGeom>
          <a:ln>
            <a:noFill/>
          </a:ln>
        </p:spPr>
        <p:txBody>
          <a:bodyPr vert="horz" lIns="0" tIns="252000" rIns="0" bIns="144000" rtlCol="0">
            <a:normAutofit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br>
              <a:rPr lang="en-BE"/>
            </a:br>
            <a:endParaRPr lang="en-BE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4163AFD7-B9F8-AC47-977D-C58A07A6E9C0}"/>
              </a:ext>
            </a:extLst>
          </p:cNvPr>
          <p:cNvSpPr txBox="1">
            <a:spLocks/>
          </p:cNvSpPr>
          <p:nvPr/>
        </p:nvSpPr>
        <p:spPr>
          <a:xfrm>
            <a:off x="8136389" y="1152000"/>
            <a:ext cx="4064399" cy="4428000"/>
          </a:xfrm>
          <a:prstGeom prst="rect">
            <a:avLst/>
          </a:prstGeom>
          <a:ln>
            <a:noFill/>
          </a:ln>
        </p:spPr>
        <p:txBody>
          <a:bodyPr vert="horz" lIns="0" tIns="252000" rIns="0" bIns="144000" rtlCol="0">
            <a:normAutofit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endParaRPr lang="en-BE"/>
          </a:p>
          <a:p>
            <a:pPr marL="0" indent="0">
              <a:buFont typeface="Verdana" pitchFamily="34" charset="0"/>
              <a:buNone/>
            </a:pPr>
            <a:br>
              <a:rPr lang="en-BE"/>
            </a:br>
            <a:endParaRPr lang="en-B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CB46E8-93C2-C044-BD2E-9F5BBD277297}"/>
              </a:ext>
            </a:extLst>
          </p:cNvPr>
          <p:cNvSpPr txBox="1"/>
          <p:nvPr/>
        </p:nvSpPr>
        <p:spPr>
          <a:xfrm>
            <a:off x="499214" y="1534765"/>
            <a:ext cx="3949221" cy="1815882"/>
          </a:xfrm>
          <a:prstGeom prst="rect">
            <a:avLst/>
          </a:prstGeom>
          <a:solidFill>
            <a:srgbClr val="0C720B">
              <a:alpha val="25490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 cases population</a:t>
            </a:r>
          </a:p>
          <a:p>
            <a:r>
              <a:rPr lang="en-GB" sz="1400" i="1">
                <a:solidFill>
                  <a:srgbClr val="B7A9B6"/>
                </a:solidFill>
              </a:rPr>
              <a:t> 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&lt;int&gt;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   745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  2666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 37737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 80488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 1280428583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74D426-4CA0-6D44-AA36-997D791E29E4}"/>
              </a:ext>
            </a:extLst>
          </p:cNvPr>
          <p:cNvSpPr txBox="1"/>
          <p:nvPr/>
        </p:nvSpPr>
        <p:spPr>
          <a:xfrm>
            <a:off x="4895101" y="1546018"/>
            <a:ext cx="4499942" cy="3108543"/>
          </a:xfrm>
          <a:prstGeom prst="rect">
            <a:avLst/>
          </a:prstGeom>
          <a:solidFill>
            <a:srgbClr val="0C720B">
              <a:alpha val="25490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 country      year type            count</a:t>
            </a:r>
          </a:p>
          <a:p>
            <a:r>
              <a:rPr lang="en-GB" sz="1400" i="1">
                <a:solidFill>
                  <a:srgbClr val="B7A9B6"/>
                </a:solidFill>
              </a:rPr>
              <a:t>  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&lt;int&gt; &lt;</a:t>
            </a:r>
            <a:r>
              <a:rPr lang="en-GB" sz="1400" i="1" err="1">
                <a:solidFill>
                  <a:srgbClr val="B7A9B6"/>
                </a:solidFill>
              </a:rPr>
              <a:t>chr</a:t>
            </a:r>
            <a:r>
              <a:rPr lang="en-GB" sz="1400" i="1">
                <a:solidFill>
                  <a:srgbClr val="B7A9B6"/>
                </a:solidFill>
              </a:rPr>
              <a:t>&gt;     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 1 Afghanistan  1999 cases             745</a:t>
            </a:r>
          </a:p>
          <a:p>
            <a:r>
              <a:rPr lang="en-GB" sz="1400">
                <a:solidFill>
                  <a:srgbClr val="000000"/>
                </a:solidFill>
              </a:rPr>
              <a:t> 2 Afghanistan  1999 population   19987071</a:t>
            </a:r>
          </a:p>
          <a:p>
            <a:r>
              <a:rPr lang="en-GB" sz="1400">
                <a:solidFill>
                  <a:srgbClr val="000000"/>
                </a:solidFill>
              </a:rPr>
              <a:t> 3 Afghanistan  2000 cases            2666</a:t>
            </a:r>
          </a:p>
          <a:p>
            <a:r>
              <a:rPr lang="en-GB" sz="1400">
                <a:solidFill>
                  <a:srgbClr val="000000"/>
                </a:solidFill>
              </a:rPr>
              <a:t> 4 Afghanistan  2000 population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 5 Brazil       1999 cases           37737</a:t>
            </a:r>
          </a:p>
          <a:p>
            <a:r>
              <a:rPr lang="en-GB" sz="1400">
                <a:solidFill>
                  <a:srgbClr val="000000"/>
                </a:solidFill>
              </a:rPr>
              <a:t> 6 Brazil       1999 population  172006362</a:t>
            </a:r>
          </a:p>
          <a:p>
            <a:r>
              <a:rPr lang="en-GB" sz="1400">
                <a:solidFill>
                  <a:srgbClr val="000000"/>
                </a:solidFill>
              </a:rPr>
              <a:t> 7 Brazil       2000 cases           80488</a:t>
            </a:r>
          </a:p>
          <a:p>
            <a:r>
              <a:rPr lang="en-GB" sz="1400">
                <a:solidFill>
                  <a:srgbClr val="000000"/>
                </a:solidFill>
              </a:rPr>
              <a:t> 8 Brazil       2000 population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 9 China        1999 cases          212258</a:t>
            </a:r>
          </a:p>
          <a:p>
            <a:r>
              <a:rPr lang="en-GB" sz="1400">
                <a:solidFill>
                  <a:srgbClr val="000000"/>
                </a:solidFill>
              </a:rPr>
              <a:t>10 China        1999 population 1272915272</a:t>
            </a:r>
          </a:p>
          <a:p>
            <a:r>
              <a:rPr lang="en-GB" sz="1400">
                <a:solidFill>
                  <a:srgbClr val="000000"/>
                </a:solidFill>
              </a:rPr>
              <a:t>11 China        2000 cases          213766</a:t>
            </a:r>
          </a:p>
          <a:p>
            <a:r>
              <a:rPr lang="en-GB" sz="1400">
                <a:solidFill>
                  <a:srgbClr val="000000"/>
                </a:solidFill>
              </a:rPr>
              <a:t>12 China        2000 population 1280428583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0E57CD-09A1-4E40-837D-0BC33DDBFCA1}"/>
              </a:ext>
            </a:extLst>
          </p:cNvPr>
          <p:cNvSpPr txBox="1"/>
          <p:nvPr/>
        </p:nvSpPr>
        <p:spPr>
          <a:xfrm>
            <a:off x="497248" y="3507354"/>
            <a:ext cx="4059627" cy="1815882"/>
          </a:xfrm>
          <a:prstGeom prst="rect">
            <a:avLst/>
          </a:prstGeom>
          <a:solidFill>
            <a:srgbClr val="EC4B2E">
              <a:alpha val="24706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year rate             </a:t>
            </a:r>
          </a:p>
          <a:p>
            <a:r>
              <a:rPr lang="en-GB" sz="1400" i="1">
                <a:solidFill>
                  <a:srgbClr val="B7A9B6"/>
                </a:solidFill>
              </a:rPr>
              <a:t>* &lt;chr&gt;       &lt;int&gt; &lt;chr&gt;            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1999 745/19987071     </a:t>
            </a:r>
          </a:p>
          <a:p>
            <a:r>
              <a:rPr lang="en-GB" sz="1400">
                <a:solidFill>
                  <a:srgbClr val="000000"/>
                </a:solidFill>
              </a:rPr>
              <a:t>2 Afghanistan  2000 2666/20595360    </a:t>
            </a:r>
          </a:p>
          <a:p>
            <a:r>
              <a:rPr lang="en-GB" sz="1400">
                <a:solidFill>
                  <a:srgbClr val="000000"/>
                </a:solidFill>
              </a:rPr>
              <a:t>3 Brazil       1999 37737/172006362  </a:t>
            </a:r>
          </a:p>
          <a:p>
            <a:r>
              <a:rPr lang="en-GB" sz="1400">
                <a:solidFill>
                  <a:srgbClr val="000000"/>
                </a:solidFill>
              </a:rPr>
              <a:t>4 Brazil       2000 80488/174504898  </a:t>
            </a:r>
          </a:p>
          <a:p>
            <a:r>
              <a:rPr lang="en-GB" sz="1400">
                <a:solidFill>
                  <a:srgbClr val="000000"/>
                </a:solidFill>
              </a:rPr>
              <a:t>5 China        1999 212258/1272915272</a:t>
            </a:r>
          </a:p>
          <a:p>
            <a:r>
              <a:rPr lang="en-GB" sz="1400">
                <a:solidFill>
                  <a:srgbClr val="000000"/>
                </a:solidFill>
              </a:rPr>
              <a:t>6 China        2000 213766/1280428583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77FA09-48F4-E84D-834D-74A2AC10D15D}"/>
              </a:ext>
            </a:extLst>
          </p:cNvPr>
          <p:cNvSpPr txBox="1"/>
          <p:nvPr/>
        </p:nvSpPr>
        <p:spPr>
          <a:xfrm>
            <a:off x="8620675" y="4995810"/>
            <a:ext cx="3297027" cy="1169551"/>
          </a:xfrm>
          <a:prstGeom prst="rect">
            <a:avLst/>
          </a:prstGeom>
          <a:solidFill>
            <a:srgbClr val="0C720B">
              <a:alpha val="25490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`1999`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</a:t>
            </a:r>
            <a:r>
              <a:rPr lang="en-GB" sz="1400" err="1">
                <a:solidFill>
                  <a:srgbClr val="000000"/>
                </a:solidFill>
              </a:rPr>
              <a:t>chr</a:t>
            </a:r>
            <a:r>
              <a:rPr lang="en-GB" sz="1400">
                <a:solidFill>
                  <a:srgbClr val="000000"/>
                </a:solidFill>
              </a:rPr>
              <a:t>&gt;        &lt;int&gt;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 745   2666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37737  80488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212258 213766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6D50CB-C088-554F-B589-AF3DFE138529}"/>
              </a:ext>
            </a:extLst>
          </p:cNvPr>
          <p:cNvSpPr txBox="1"/>
          <p:nvPr/>
        </p:nvSpPr>
        <p:spPr>
          <a:xfrm>
            <a:off x="4895101" y="4995810"/>
            <a:ext cx="3680146" cy="1169551"/>
          </a:xfrm>
          <a:prstGeom prst="rect">
            <a:avLst/>
          </a:prstGeom>
          <a:solidFill>
            <a:srgbClr val="0C720B">
              <a:alpha val="25490"/>
            </a:srgbClr>
          </a:solidFill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600">
                <a:solidFill>
                  <a:srgbClr val="2306F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sz="1400">
                <a:solidFill>
                  <a:srgbClr val="000000"/>
                </a:solidFill>
              </a:rPr>
              <a:t>  country         `1999`     `2000`</a:t>
            </a:r>
          </a:p>
          <a:p>
            <a:r>
              <a:rPr lang="en-GB" sz="1400">
                <a:solidFill>
                  <a:srgbClr val="000000"/>
                </a:solidFill>
              </a:rPr>
              <a:t>* &lt;</a:t>
            </a:r>
            <a:r>
              <a:rPr lang="en-GB" sz="1400" err="1">
                <a:solidFill>
                  <a:srgbClr val="000000"/>
                </a:solidFill>
              </a:rPr>
              <a:t>chr</a:t>
            </a:r>
            <a:r>
              <a:rPr lang="en-GB" sz="1400">
                <a:solidFill>
                  <a:srgbClr val="000000"/>
                </a:solidFill>
              </a:rPr>
              <a:t>&gt;            &lt;int&gt;      &lt;int&gt;</a:t>
            </a:r>
          </a:p>
          <a:p>
            <a:r>
              <a:rPr lang="en-GB" sz="1400">
                <a:solidFill>
                  <a:srgbClr val="000000"/>
                </a:solidFill>
              </a:rPr>
              <a:t>1 Afghanistan   19987071   20595360</a:t>
            </a:r>
          </a:p>
          <a:p>
            <a:r>
              <a:rPr lang="en-GB" sz="1400">
                <a:solidFill>
                  <a:srgbClr val="000000"/>
                </a:solidFill>
              </a:rPr>
              <a:t>2 Brazil       172006362  174504898</a:t>
            </a:r>
          </a:p>
          <a:p>
            <a:r>
              <a:rPr lang="en-GB" sz="1400">
                <a:solidFill>
                  <a:srgbClr val="000000"/>
                </a:solidFill>
              </a:rPr>
              <a:t>3 China       1272915272 1280428583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24C1D1-AF9A-5649-A818-7E48E73F5252}"/>
              </a:ext>
            </a:extLst>
          </p:cNvPr>
          <p:cNvSpPr txBox="1"/>
          <p:nvPr/>
        </p:nvSpPr>
        <p:spPr>
          <a:xfrm>
            <a:off x="419759" y="5410723"/>
            <a:ext cx="5112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>
                <a:solidFill>
                  <a:srgbClr val="FF0000"/>
                </a:solidFill>
              </a:rPr>
              <a:t>One cell contains two values</a:t>
            </a:r>
          </a:p>
        </p:txBody>
      </p:sp>
    </p:spTree>
    <p:extLst>
      <p:ext uri="{BB962C8B-B14F-4D97-AF65-F5344CB8AC3E}">
        <p14:creationId xmlns:p14="http://schemas.microsoft.com/office/powerpoint/2010/main" val="2777237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597B7-DB0B-E3C3-CDF1-11DD47F86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Problems in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C4CCA-D59E-33B9-2FBE-D83D26F61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The data you get will have issues</a:t>
            </a:r>
          </a:p>
          <a:p>
            <a:pPr lvl="1"/>
            <a:r>
              <a:rPr lang="en-US" noProof="0" dirty="0"/>
              <a:t>Contains outliers</a:t>
            </a:r>
          </a:p>
          <a:p>
            <a:pPr lvl="1"/>
            <a:r>
              <a:rPr lang="en-US" noProof="0" dirty="0"/>
              <a:t>Ordinal and nominal (important to figure out)</a:t>
            </a:r>
          </a:p>
          <a:p>
            <a:pPr lvl="1"/>
            <a:r>
              <a:rPr lang="en-US" noProof="0" dirty="0"/>
              <a:t>Contains missing values</a:t>
            </a:r>
          </a:p>
          <a:p>
            <a:pPr lvl="1"/>
            <a:r>
              <a:rPr lang="en-US" noProof="0" dirty="0"/>
              <a:t>Has bias</a:t>
            </a:r>
          </a:p>
          <a:p>
            <a:endParaRPr lang="en-US" noProof="0" dirty="0"/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756492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1C434-2476-7DDC-CE47-176B1133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CB492-4A61-9F53-B8AB-B3C983900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Outliers are observations or data points that significantly deviate from the rest of the data, extreme values that are distinctively different from the majority of the dataset</a:t>
            </a:r>
          </a:p>
          <a:p>
            <a:pPr lvl="1"/>
            <a:r>
              <a:rPr lang="en-US" dirty="0"/>
              <a:t>Measurement errors</a:t>
            </a:r>
          </a:p>
          <a:p>
            <a:pPr lvl="1"/>
            <a:r>
              <a:rPr lang="en-US" dirty="0"/>
              <a:t>Data corruption</a:t>
            </a:r>
          </a:p>
          <a:p>
            <a:pPr lvl="1"/>
            <a:r>
              <a:rPr lang="en-US" dirty="0"/>
              <a:t>Genuinely unusual observations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Can distort the results of statistical analyses, leading to incorrect conclusions or misleading interpretations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1FA13-48F4-9A86-7596-D3B4854F3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006137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5CBD-D079-3012-6AD3-352064695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1520B-C2B2-664F-081B-FA907072F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6657961" cy="4626069"/>
          </a:xfrm>
        </p:spPr>
        <p:txBody>
          <a:bodyPr/>
          <a:lstStyle/>
          <a:p>
            <a:r>
              <a:rPr lang="en-US" dirty="0"/>
              <a:t>This is the histogram for the Y-size of about 50.000 diamonds</a:t>
            </a:r>
          </a:p>
          <a:p>
            <a:r>
              <a:rPr lang="en-US" dirty="0"/>
              <a:t>All are between 3 and 10 mm, but why is the graph so big?</a:t>
            </a:r>
          </a:p>
          <a:p>
            <a:r>
              <a:rPr lang="en-US" dirty="0"/>
              <a:t>Because there is one diamond in the set with a Y-value of around 60</a:t>
            </a:r>
          </a:p>
          <a:p>
            <a:pPr lvl="1"/>
            <a:r>
              <a:rPr lang="en-US" dirty="0"/>
              <a:t>For reference: the biggest diamond in the world is 10x6 cm</a:t>
            </a:r>
          </a:p>
          <a:p>
            <a:pPr lvl="1"/>
            <a:r>
              <a:rPr lang="en-US" dirty="0"/>
              <a:t>This diamond’s price is $12k</a:t>
            </a:r>
          </a:p>
          <a:p>
            <a:pPr lvl="1"/>
            <a:r>
              <a:rPr lang="en-US" dirty="0"/>
              <a:t>(Something is wrong there)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F0FC0-5C3C-E21E-106B-701D1E32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25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485460-66F0-0C0D-C9E6-4A13A70AA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0666" y="2315179"/>
            <a:ext cx="4786606" cy="338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702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3059A-908F-E7F8-7562-7E2C20D1D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C1E38-12BF-1FAA-9501-23CAB1B87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Outliers can be seen in histograms, but box-plots are easier</a:t>
            </a:r>
          </a:p>
          <a:p>
            <a:r>
              <a:rPr lang="en-US" dirty="0"/>
              <a:t>The green line is the median, the outside of the box is the q1 and q3</a:t>
            </a:r>
          </a:p>
          <a:p>
            <a:pPr lvl="1"/>
            <a:r>
              <a:rPr lang="en-US" dirty="0"/>
              <a:t>25% of data is below the q1-value (quartile 1)</a:t>
            </a:r>
          </a:p>
          <a:p>
            <a:pPr lvl="1"/>
            <a:r>
              <a:rPr lang="en-US" dirty="0"/>
              <a:t>The median (q2) is the center value</a:t>
            </a:r>
          </a:p>
          <a:p>
            <a:r>
              <a:rPr lang="en-US" dirty="0"/>
              <a:t>IQR = q3 – q1</a:t>
            </a:r>
          </a:p>
          <a:p>
            <a:r>
              <a:rPr lang="en-US" dirty="0"/>
              <a:t>Outliers:</a:t>
            </a:r>
          </a:p>
          <a:p>
            <a:pPr lvl="1"/>
            <a:r>
              <a:rPr lang="en-US" dirty="0"/>
              <a:t>Below q1 – 1.5 x IQR</a:t>
            </a:r>
          </a:p>
          <a:p>
            <a:pPr lvl="1"/>
            <a:r>
              <a:rPr lang="en-US" dirty="0"/>
              <a:t>Above q3 + 1.5 x IQR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4F5B8-9BC2-A122-85C5-9F203504B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26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C2BB6C-15DC-99CE-6347-3251B2694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623" y="136525"/>
            <a:ext cx="5320553" cy="21199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B75677-C9AC-631F-0DFA-07F19BF82F71}"/>
              </a:ext>
            </a:extLst>
          </p:cNvPr>
          <p:cNvSpPr txBox="1"/>
          <p:nvPr/>
        </p:nvSpPr>
        <p:spPr>
          <a:xfrm>
            <a:off x="5308600" y="5143499"/>
            <a:ext cx="36866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Where the lines end!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FF4D34E-27C6-B26D-36E8-F1C6567F478F}"/>
              </a:ext>
            </a:extLst>
          </p:cNvPr>
          <p:cNvCxnSpPr/>
          <p:nvPr/>
        </p:nvCxnSpPr>
        <p:spPr>
          <a:xfrm flipH="1" flipV="1">
            <a:off x="4203700" y="5283200"/>
            <a:ext cx="1104900" cy="152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77D7F6-E0E6-82E8-A9DC-77A40E518654}"/>
              </a:ext>
            </a:extLst>
          </p:cNvPr>
          <p:cNvCxnSpPr/>
          <p:nvPr/>
        </p:nvCxnSpPr>
        <p:spPr>
          <a:xfrm flipH="1">
            <a:off x="4203700" y="5435887"/>
            <a:ext cx="1104900" cy="177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6755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EFE2F-C542-C08A-F77B-949F45BD5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701C-8217-F172-5CAC-739CA8BE5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IQR: Inter quartile range</a:t>
            </a:r>
          </a:p>
          <a:p>
            <a:pPr lvl="1"/>
            <a:r>
              <a:rPr lang="en-US" dirty="0"/>
              <a:t>Range between q1 and q3</a:t>
            </a:r>
          </a:p>
          <a:p>
            <a:pPr lvl="1"/>
            <a:r>
              <a:rPr lang="en-US" dirty="0"/>
              <a:t>Unaffected by extreme outliers</a:t>
            </a:r>
          </a:p>
          <a:p>
            <a:r>
              <a:rPr lang="en-US" dirty="0"/>
              <a:t>Standard deviation:</a:t>
            </a:r>
          </a:p>
          <a:p>
            <a:pPr lvl="1"/>
            <a:r>
              <a:rPr lang="en-US" dirty="0"/>
              <a:t>Average distance to the mean</a:t>
            </a:r>
          </a:p>
          <a:p>
            <a:pPr lvl="1"/>
            <a:r>
              <a:rPr lang="en-US" dirty="0"/>
              <a:t>Is affected by extreme outliers</a:t>
            </a:r>
          </a:p>
          <a:p>
            <a:r>
              <a:rPr lang="en-US" dirty="0"/>
              <a:t>You could calculate outliers using</a:t>
            </a:r>
            <a:br>
              <a:rPr lang="en-US" dirty="0"/>
            </a:br>
            <a:r>
              <a:rPr lang="en-US" dirty="0"/>
              <a:t>	average ± 3 x standard deviation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AF4F0-6C67-8326-A975-01D191798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12349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A932B-3355-24C6-CB75-C5C9E0437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Outliers: how to handle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258F1-7990-BB40-0D4B-D476D9191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Removing outliers: easiest, but also quite harsh</a:t>
            </a:r>
          </a:p>
          <a:p>
            <a:r>
              <a:rPr lang="en-US" dirty="0"/>
              <a:t>Transformation: if the data is logarithmic you should transform it, the outliers may not seem so </a:t>
            </a:r>
            <a:r>
              <a:rPr lang="en-US" dirty="0" err="1"/>
              <a:t>outlierly</a:t>
            </a:r>
            <a:r>
              <a:rPr lang="en-US" dirty="0"/>
              <a:t> after all</a:t>
            </a:r>
          </a:p>
          <a:p>
            <a:r>
              <a:rPr lang="en-US" dirty="0" err="1"/>
              <a:t>Winsorization</a:t>
            </a:r>
            <a:r>
              <a:rPr lang="en-US" dirty="0"/>
              <a:t> or clipping: capping the extreme values at a predefined threshold</a:t>
            </a:r>
          </a:p>
          <a:p>
            <a:r>
              <a:rPr lang="en-US" dirty="0"/>
              <a:t>Creating separate models: outliers may represent a distinct subset of data that requires separate modeling or analysis. Create a separate models for these datapoints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7AD1C-6F2D-4A47-DFE2-C815FB3FD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506684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241BA-63C5-C30B-02E6-8BA1156FB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skewing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50CE2-C21D-1C46-50B0-F95A05009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2365375"/>
            <a:ext cx="11291048" cy="3811588"/>
          </a:xfrm>
        </p:spPr>
        <p:txBody>
          <a:bodyPr>
            <a:normAutofit lnSpcReduction="10000"/>
          </a:bodyPr>
          <a:lstStyle/>
          <a:p>
            <a:pPr lvl="1"/>
            <a:r>
              <a:rPr lang="en-US" dirty="0"/>
              <a:t>Not a problem to fix, but interesting none the less</a:t>
            </a:r>
          </a:p>
          <a:p>
            <a:r>
              <a:rPr lang="en-US" dirty="0"/>
              <a:t>Median = average: normal distribution</a:t>
            </a:r>
          </a:p>
          <a:p>
            <a:pPr lvl="1"/>
            <a:r>
              <a:rPr lang="en-US" dirty="0"/>
              <a:t>There were some students who didn't get it, and they got bad grades</a:t>
            </a:r>
          </a:p>
          <a:p>
            <a:pPr lvl="1"/>
            <a:r>
              <a:rPr lang="en-US" dirty="0"/>
              <a:t>Most students got a mediocre value, they make up the bulk of grades</a:t>
            </a:r>
          </a:p>
          <a:p>
            <a:pPr lvl="1"/>
            <a:r>
              <a:rPr lang="en-US" dirty="0"/>
              <a:t>Some students managed to excel, getting really high grades</a:t>
            </a:r>
          </a:p>
          <a:p>
            <a:r>
              <a:rPr lang="en-US" dirty="0"/>
              <a:t>Median &gt; average</a:t>
            </a:r>
          </a:p>
          <a:p>
            <a:pPr lvl="1"/>
            <a:r>
              <a:rPr lang="en-US" dirty="0"/>
              <a:t>Test was to easy, almost everybody got good grades</a:t>
            </a:r>
          </a:p>
          <a:p>
            <a:r>
              <a:rPr lang="en-US" dirty="0"/>
              <a:t>Average &gt; median</a:t>
            </a:r>
          </a:p>
          <a:p>
            <a:pPr lvl="1"/>
            <a:r>
              <a:rPr lang="en-US" dirty="0"/>
              <a:t>Test was to hard, only the whizz-kids got good grades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1B06B-07B2-CEBF-5EBA-D761000F5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29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6E3115-080A-D3BD-EBF6-1D522411F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275" y="285015"/>
            <a:ext cx="581025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519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686C1-138B-C182-BB59-61DC5B526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skewing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ADCC3-0386-96AB-5EB5-B12CBE704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 of negative (left) skewing</a:t>
            </a:r>
          </a:p>
          <a:p>
            <a:pPr lvl="1"/>
            <a:r>
              <a:rPr lang="en-US" dirty="0"/>
              <a:t>Age of retirement (most people retire around 65, a few much earlier).</a:t>
            </a:r>
          </a:p>
          <a:p>
            <a:pPr lvl="1"/>
            <a:r>
              <a:rPr lang="en-US" dirty="0"/>
              <a:t>Distances of long </a:t>
            </a:r>
            <a:r>
              <a:rPr lang="en-US" dirty="0" err="1"/>
              <a:t>olympic</a:t>
            </a:r>
            <a:r>
              <a:rPr lang="en-US" dirty="0"/>
              <a:t> long jump</a:t>
            </a:r>
          </a:p>
          <a:p>
            <a:pPr lvl="1"/>
            <a:r>
              <a:rPr lang="en-US" dirty="0"/>
              <a:t>Age of dying</a:t>
            </a:r>
          </a:p>
          <a:p>
            <a:r>
              <a:rPr lang="en-US" dirty="0"/>
              <a:t>Examples of positive (right) skewing</a:t>
            </a:r>
          </a:p>
          <a:p>
            <a:pPr lvl="1"/>
            <a:r>
              <a:rPr lang="en-US" dirty="0"/>
              <a:t>Income</a:t>
            </a:r>
          </a:p>
          <a:p>
            <a:pPr lvl="1"/>
            <a:r>
              <a:rPr lang="en-US" dirty="0"/>
              <a:t>Housing prices</a:t>
            </a:r>
          </a:p>
          <a:p>
            <a:pPr lvl="1"/>
            <a:r>
              <a:rPr lang="en-US" dirty="0"/>
              <a:t>Hospital stay duration</a:t>
            </a:r>
          </a:p>
          <a:p>
            <a:pPr lvl="1"/>
            <a:r>
              <a:rPr lang="en-US" dirty="0"/>
              <a:t>Amount of pets people own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8FD1B-2C28-E1FC-AC7A-E9DA94220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294654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9999-F948-CE7F-3C32-8649AEBD4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8B6D0-D30D-14D4-A9A2-5B4F8B563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Gender: Categorized as male or female.</a:t>
            </a:r>
          </a:p>
          <a:p>
            <a:pPr lvl="1"/>
            <a:r>
              <a:rPr lang="en-US" dirty="0"/>
              <a:t>Marital Status: Categorized as single, married, divorced, widowed, etc.</a:t>
            </a:r>
          </a:p>
          <a:p>
            <a:pPr lvl="1"/>
            <a:r>
              <a:rPr lang="en-US" dirty="0"/>
              <a:t>Educational Level: Categorized as high school, college, graduate degree, etc.</a:t>
            </a:r>
          </a:p>
          <a:p>
            <a:pPr lvl="1"/>
            <a:r>
              <a:rPr lang="en-US" dirty="0"/>
              <a:t>Hair Color: Categorized as black, brown, blonde, red, etc.</a:t>
            </a:r>
          </a:p>
          <a:p>
            <a:pPr lvl="1"/>
            <a:r>
              <a:rPr lang="en-US" dirty="0"/>
              <a:t>Vehicle Type: Categorized as car, truck, motorcycle, bicycle, etc.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Cannot be subjected to numerical operations or calculations, such as addition or multiplication</a:t>
            </a:r>
            <a:endParaRPr lang="en-US" dirty="0">
              <a:solidFill>
                <a:srgbClr val="000000"/>
              </a:solidFill>
              <a:latin typeface="-apple-system"/>
            </a:endParaRPr>
          </a:p>
          <a:p>
            <a:r>
              <a:rPr lang="en-US" dirty="0">
                <a:solidFill>
                  <a:srgbClr val="000000"/>
                </a:solidFill>
                <a:latin typeface="-apple-system"/>
              </a:rPr>
              <a:t>Use 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chi-square tests, contingency tables, and frequency distributions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4DD93-C69D-E396-9C49-B64048C67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852629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5208F-06D5-0701-0EF8-E237C6611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 and nominal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49792-E474-615D-9593-F9B742DF9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Ordinal: the fields have an order</a:t>
            </a:r>
          </a:p>
          <a:p>
            <a:pPr lvl="1"/>
            <a:r>
              <a:rPr lang="en-US" dirty="0"/>
              <a:t>T-shirt sizes, ratings, education level, …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The intervals between categories may not be uniform or measurable</a:t>
            </a:r>
          </a:p>
          <a:p>
            <a:r>
              <a:rPr lang="en-US" dirty="0">
                <a:solidFill>
                  <a:srgbClr val="000000"/>
                </a:solidFill>
                <a:latin typeface="-apple-system"/>
              </a:rPr>
              <a:t>Nominal: no inherent order or ranking</a:t>
            </a:r>
          </a:p>
          <a:p>
            <a:pPr lvl="1"/>
            <a:r>
              <a:rPr lang="en-US" dirty="0"/>
              <a:t>Gender, colors, marital status, types of fruit, …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Each category is distinct and does not have any relative position or hierarchy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B9F6A-3C12-5804-188D-D3EFF19F4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612872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5D84-6686-3307-E397-EF7BA09B1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hot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A09CE-BF25-B2BF-B9AC-3304F8068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we have 3 types of fruit (apple, banana and orange)</a:t>
            </a:r>
          </a:p>
          <a:p>
            <a:r>
              <a:rPr lang="en-US" dirty="0"/>
              <a:t>If we store “1” for apple, “2” for banana and “3” for orange, a model may treat this as a numerical value</a:t>
            </a:r>
          </a:p>
          <a:p>
            <a:pPr lvl="1"/>
            <a:r>
              <a:rPr lang="en-US" dirty="0"/>
              <a:t>An orange is worth three apples</a:t>
            </a:r>
          </a:p>
          <a:p>
            <a:pPr lvl="1"/>
            <a:r>
              <a:rPr lang="en-US" dirty="0"/>
              <a:t>This is wrong, but the model will train upon this</a:t>
            </a:r>
          </a:p>
          <a:p>
            <a:r>
              <a:rPr lang="en-US" dirty="0"/>
              <a:t>Solution: three columns (called apple, banana and orange)</a:t>
            </a:r>
          </a:p>
          <a:p>
            <a:pPr lvl="1"/>
            <a:r>
              <a:rPr lang="en-US" dirty="0"/>
              <a:t>Every row gets a one in the correct column and zero in the others</a:t>
            </a:r>
          </a:p>
          <a:p>
            <a:r>
              <a:rPr lang="en-US" dirty="0"/>
              <a:t>Pro: an apple isn’t less or more than an orange anymore</a:t>
            </a:r>
          </a:p>
          <a:p>
            <a:r>
              <a:rPr lang="en-US" dirty="0"/>
              <a:t>Con: increase of dimensionality (and memory-requirements for models)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ADCA7-47A2-EA68-6B54-12696435C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455482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E6B80-3C3A-FBE9-7FDC-44A47687A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2D53C-1D64-F7A6-F5D7-3967E1EA5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7989795" cy="4626069"/>
          </a:xfrm>
        </p:spPr>
        <p:txBody>
          <a:bodyPr/>
          <a:lstStyle/>
          <a:p>
            <a:r>
              <a:rPr lang="en-US" dirty="0"/>
              <a:t>Not all data is always known</a:t>
            </a:r>
          </a:p>
          <a:p>
            <a:r>
              <a:rPr lang="en-US" dirty="0"/>
              <a:t>There can be many reasons for this:</a:t>
            </a:r>
          </a:p>
          <a:p>
            <a:pPr lvl="1"/>
            <a:r>
              <a:rPr lang="en-US" dirty="0"/>
              <a:t>Never measured</a:t>
            </a:r>
          </a:p>
          <a:p>
            <a:pPr lvl="1"/>
            <a:r>
              <a:rPr lang="en-US" dirty="0"/>
              <a:t>Can be calculated</a:t>
            </a:r>
          </a:p>
          <a:p>
            <a:pPr lvl="1"/>
            <a:r>
              <a:rPr lang="en-US" dirty="0"/>
              <a:t>Wrongly stored</a:t>
            </a:r>
          </a:p>
          <a:p>
            <a:r>
              <a:rPr lang="en-US" dirty="0"/>
              <a:t>You’ll need a domain expert for most of the solutions to this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DCA3D-A08D-ADCB-C222-CA1C5964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34</a:t>
            </a:fld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EA5587-430F-8BF3-70C9-165569A33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1" y="1406270"/>
            <a:ext cx="4368462" cy="541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0303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1FF39-0995-6C60-A32D-6C7A7C6F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values: Amputation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7D0F9-8F42-3E07-A909-2C9864019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Easiest solution is simply deleting the data</a:t>
            </a:r>
          </a:p>
          <a:p>
            <a:r>
              <a:rPr lang="en-US" dirty="0"/>
              <a:t>The row</a:t>
            </a:r>
          </a:p>
          <a:p>
            <a:pPr lvl="1"/>
            <a:r>
              <a:rPr lang="en-US" dirty="0"/>
              <a:t>A record that has to much missing data</a:t>
            </a:r>
          </a:p>
          <a:p>
            <a:pPr lvl="1"/>
            <a:r>
              <a:rPr lang="en-US" dirty="0"/>
              <a:t>Note: you also delete the data you do have</a:t>
            </a:r>
          </a:p>
          <a:p>
            <a:r>
              <a:rPr lang="en-US" dirty="0"/>
              <a:t>The column</a:t>
            </a:r>
          </a:p>
          <a:p>
            <a:pPr lvl="1"/>
            <a:r>
              <a:rPr lang="en-US" dirty="0"/>
              <a:t>One measurement that won’t help in the models</a:t>
            </a:r>
          </a:p>
          <a:p>
            <a:pPr lvl="1"/>
            <a:r>
              <a:rPr lang="en-US" dirty="0"/>
              <a:t>Note: again, you also delete the data you do have</a:t>
            </a:r>
          </a:p>
          <a:p>
            <a:r>
              <a:rPr lang="en-US" dirty="0"/>
              <a:t>Amputation is often the safest way of dealing with outliers, especially if you don’t have too much actual data in the row</a:t>
            </a:r>
          </a:p>
          <a:p>
            <a:r>
              <a:rPr lang="en-US" i="1" dirty="0"/>
              <a:t>Outliers: always delete the row, never the column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4FA51-CAB2-843A-601F-42682EB86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631484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92AB6-531A-E428-7D24-5CAF404F6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values: Imputing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95E8-3E37-6DE9-4668-CD7A6E236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Sometimes you can make a good guess on what the value should be</a:t>
            </a:r>
          </a:p>
          <a:p>
            <a:r>
              <a:rPr lang="en-US" dirty="0"/>
              <a:t>Based only on the column itself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Mean/Median/Mode Imputation</a:t>
            </a:r>
          </a:p>
          <a:p>
            <a:r>
              <a:rPr lang="en-US" dirty="0">
                <a:solidFill>
                  <a:srgbClr val="000000"/>
                </a:solidFill>
                <a:latin typeface="-apple-system"/>
              </a:rPr>
              <a:t>Beware: you’ll get spikes in your data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Example: fill in the missing ages in Titanic with the </a:t>
            </a:r>
            <a:r>
              <a:rPr lang="en-US" dirty="0">
                <a:solidFill>
                  <a:srgbClr val="000000"/>
                </a:solidFill>
                <a:latin typeface="-apple-system"/>
              </a:rPr>
              <a:t>mode of age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88F8E-B158-B1F6-838D-D3F730C0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36</a:t>
            </a:fld>
            <a:endParaRPr lang="nl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970AFB-9008-F165-4D40-23D8A2EC6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440" y="3917856"/>
            <a:ext cx="6742113" cy="277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4581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4C268-1FDC-EB19-9D92-DCCE6C99D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values: Imputing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B9C32-C692-98AA-383E-9932391FA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Based on the rest of the data as well: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Regression Imputation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K-Nearest Neighbors (KNN) Imputation: replace missing values with the average of the values from the nearest neighbors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Multiple Imputation: combine different models</a:t>
            </a:r>
          </a:p>
          <a:p>
            <a:pPr lvl="1"/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  <a:hlinkClick r:id="rId2"/>
              </a:rPr>
              <a:t>SimpleImputer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r>
              <a:rPr lang="en-US" dirty="0">
                <a:solidFill>
                  <a:srgbClr val="000000"/>
                </a:solidFill>
                <a:latin typeface="-apple-system"/>
              </a:rPr>
              <a:t>But beware: if you predict the age of people on titanic based on their fare, you strengthen this connection and make it appear stronger in the final model than it actually is</a:t>
            </a:r>
          </a:p>
          <a:p>
            <a:r>
              <a:rPr lang="en-US" dirty="0">
                <a:solidFill>
                  <a:srgbClr val="000000"/>
                </a:solidFill>
                <a:latin typeface="-apple-system"/>
              </a:rPr>
              <a:t>… which of course will lead to a lower quality model when doing inference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7705D-0825-9D27-EB16-B9A059E1C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648073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70A22-EBCF-0AD4-18D8-72B7442A3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38</a:t>
            </a:fld>
            <a:endParaRPr lang="nl-BE"/>
          </a:p>
        </p:txBody>
      </p:sp>
      <p:pic>
        <p:nvPicPr>
          <p:cNvPr id="6" name="Picture 5" descr="A drawing of a plane with red dots&#10;&#10;AI-generated content may be incorrect.">
            <a:extLst>
              <a:ext uri="{FF2B5EF4-FFF2-40B4-BE49-F238E27FC236}">
                <a16:creationId xmlns:a16="http://schemas.microsoft.com/office/drawing/2014/main" id="{06B44A09-EA80-BD71-219E-2FA0E2DE1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" y="136525"/>
            <a:ext cx="8915400" cy="664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677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C675C-27DB-F31C-86B0-459FD51A6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39480-EDE2-A1D2-6D4F-E9E9B2F6F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4300276"/>
            <a:ext cx="10771094" cy="18766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Looking at this data, what percentage of black people carrying a joint will get caught? And what percentage of white people?</a:t>
            </a:r>
          </a:p>
          <a:p>
            <a:r>
              <a:rPr lang="en-US" dirty="0"/>
              <a:t>And what will show up in the statistics?</a:t>
            </a:r>
          </a:p>
          <a:p>
            <a:r>
              <a:rPr lang="en-US" dirty="0"/>
              <a:t>And what will the cops base their decision on who to stop and frisk 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44FD4-1F6B-4776-0671-051B7910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39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7DE952-D6BB-B6A3-C7D9-56B37C351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194" y="1464527"/>
            <a:ext cx="7031611" cy="256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297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D557E-A5B7-A5D7-8E51-FEA0BF72E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E730D-25A4-2C04-6F4F-E6EAFF018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BE" dirty="0"/>
              <a:t>More types of Bias:</a:t>
            </a:r>
          </a:p>
          <a:p>
            <a:pPr lvl="1"/>
            <a:r>
              <a:rPr lang="nl-BE" dirty="0"/>
              <a:t>Sampling Bias: Non-</a:t>
            </a:r>
            <a:r>
              <a:rPr lang="nl-BE" dirty="0" err="1"/>
              <a:t>representative</a:t>
            </a:r>
            <a:r>
              <a:rPr lang="nl-BE" dirty="0"/>
              <a:t> sample.</a:t>
            </a:r>
          </a:p>
          <a:p>
            <a:pPr lvl="1"/>
            <a:r>
              <a:rPr lang="nl-BE" dirty="0" err="1"/>
              <a:t>Selection</a:t>
            </a:r>
            <a:r>
              <a:rPr lang="nl-BE" dirty="0"/>
              <a:t> Bias: </a:t>
            </a:r>
            <a:r>
              <a:rPr lang="nl-BE" dirty="0" err="1"/>
              <a:t>Influenced</a:t>
            </a:r>
            <a:r>
              <a:rPr lang="nl-BE" dirty="0"/>
              <a:t> </a:t>
            </a:r>
            <a:r>
              <a:rPr lang="nl-BE" dirty="0" err="1"/>
              <a:t>selection</a:t>
            </a:r>
            <a:r>
              <a:rPr lang="nl-BE" dirty="0"/>
              <a:t> of data points.</a:t>
            </a:r>
          </a:p>
          <a:p>
            <a:pPr lvl="1"/>
            <a:r>
              <a:rPr lang="nl-BE" dirty="0" err="1"/>
              <a:t>Measurement</a:t>
            </a:r>
            <a:r>
              <a:rPr lang="nl-BE" dirty="0"/>
              <a:t> Bias: </a:t>
            </a:r>
            <a:r>
              <a:rPr lang="nl-BE" dirty="0" err="1"/>
              <a:t>Errors</a:t>
            </a:r>
            <a:r>
              <a:rPr lang="nl-BE" dirty="0"/>
              <a:t> in </a:t>
            </a:r>
            <a:r>
              <a:rPr lang="nl-BE" dirty="0" err="1"/>
              <a:t>measurement</a:t>
            </a:r>
            <a:r>
              <a:rPr lang="nl-BE" dirty="0"/>
              <a:t>.</a:t>
            </a:r>
          </a:p>
          <a:p>
            <a:pPr lvl="1"/>
            <a:r>
              <a:rPr lang="nl-BE" dirty="0"/>
              <a:t>Reporting Bias: </a:t>
            </a:r>
            <a:r>
              <a:rPr lang="nl-BE" dirty="0" err="1"/>
              <a:t>Systematic</a:t>
            </a:r>
            <a:r>
              <a:rPr lang="nl-BE" dirty="0"/>
              <a:t> </a:t>
            </a:r>
            <a:r>
              <a:rPr lang="nl-BE" dirty="0" err="1"/>
              <a:t>difference</a:t>
            </a:r>
            <a:r>
              <a:rPr lang="nl-BE" dirty="0"/>
              <a:t> in reporting.</a:t>
            </a:r>
          </a:p>
          <a:p>
            <a:pPr lvl="1"/>
            <a:r>
              <a:rPr lang="nl-BE" dirty="0" err="1"/>
              <a:t>Confirmation</a:t>
            </a:r>
            <a:r>
              <a:rPr lang="nl-BE" dirty="0"/>
              <a:t> Bias: </a:t>
            </a:r>
            <a:r>
              <a:rPr lang="nl-BE" dirty="0" err="1"/>
              <a:t>Selective</a:t>
            </a:r>
            <a:r>
              <a:rPr lang="nl-BE" dirty="0"/>
              <a:t> search </a:t>
            </a:r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confirming</a:t>
            </a:r>
            <a:r>
              <a:rPr lang="nl-BE" dirty="0"/>
              <a:t> information.</a:t>
            </a:r>
          </a:p>
          <a:p>
            <a:pPr lvl="1"/>
            <a:r>
              <a:rPr lang="nl-BE" dirty="0" err="1"/>
              <a:t>Algorithmic</a:t>
            </a:r>
            <a:r>
              <a:rPr lang="nl-BE" dirty="0"/>
              <a:t> Bias: </a:t>
            </a:r>
            <a:r>
              <a:rPr lang="nl-BE" dirty="0" err="1"/>
              <a:t>Discrimination</a:t>
            </a:r>
            <a:r>
              <a:rPr lang="nl-BE" dirty="0"/>
              <a:t> in machine </a:t>
            </a:r>
            <a:r>
              <a:rPr lang="nl-BE" dirty="0" err="1"/>
              <a:t>learning</a:t>
            </a:r>
            <a:r>
              <a:rPr lang="nl-BE" dirty="0"/>
              <a:t> </a:t>
            </a:r>
            <a:r>
              <a:rPr lang="nl-BE" dirty="0" err="1"/>
              <a:t>models</a:t>
            </a:r>
            <a:r>
              <a:rPr lang="nl-BE" dirty="0"/>
              <a:t>.</a:t>
            </a:r>
          </a:p>
          <a:p>
            <a:pPr lvl="1"/>
            <a:r>
              <a:rPr lang="nl-BE" dirty="0" err="1"/>
              <a:t>Survivor</a:t>
            </a:r>
            <a:r>
              <a:rPr lang="nl-BE" dirty="0"/>
              <a:t> Bias: Focus on </a:t>
            </a:r>
            <a:r>
              <a:rPr lang="nl-BE" dirty="0" err="1"/>
              <a:t>surviving</a:t>
            </a:r>
            <a:r>
              <a:rPr lang="nl-BE" dirty="0"/>
              <a:t> data points.</a:t>
            </a:r>
          </a:p>
          <a:p>
            <a:pPr lvl="1"/>
            <a:r>
              <a:rPr lang="nl-BE" dirty="0" err="1"/>
              <a:t>Snoop</a:t>
            </a:r>
            <a:r>
              <a:rPr lang="nl-BE" dirty="0"/>
              <a:t> Bias: Test data </a:t>
            </a:r>
            <a:r>
              <a:rPr lang="nl-BE" dirty="0" err="1"/>
              <a:t>influencing</a:t>
            </a:r>
            <a:r>
              <a:rPr lang="nl-BE" dirty="0"/>
              <a:t> training </a:t>
            </a:r>
            <a:r>
              <a:rPr lang="nl-BE" dirty="0" err="1"/>
              <a:t>process</a:t>
            </a:r>
            <a:r>
              <a:rPr lang="nl-BE" dirty="0"/>
              <a:t>.</a:t>
            </a:r>
          </a:p>
          <a:p>
            <a:r>
              <a:rPr lang="nl-BE" dirty="0" err="1"/>
              <a:t>Mitigation</a:t>
            </a:r>
            <a:r>
              <a:rPr lang="nl-BE" dirty="0"/>
              <a:t>: Random sampling, </a:t>
            </a:r>
            <a:r>
              <a:rPr lang="nl-BE" dirty="0" err="1"/>
              <a:t>rigorous</a:t>
            </a:r>
            <a:r>
              <a:rPr lang="nl-BE" dirty="0"/>
              <a:t> </a:t>
            </a:r>
            <a:r>
              <a:rPr lang="nl-BE" dirty="0" err="1"/>
              <a:t>study</a:t>
            </a:r>
            <a:r>
              <a:rPr lang="nl-BE" dirty="0"/>
              <a:t> designs, </a:t>
            </a:r>
            <a:r>
              <a:rPr lang="nl-BE" dirty="0" err="1"/>
              <a:t>careful</a:t>
            </a:r>
            <a:r>
              <a:rPr lang="nl-BE" dirty="0"/>
              <a:t> </a:t>
            </a:r>
            <a:r>
              <a:rPr lang="nl-BE" dirty="0" err="1"/>
              <a:t>measurement</a:t>
            </a:r>
            <a:r>
              <a:rPr lang="nl-BE" dirty="0"/>
              <a:t>, </a:t>
            </a:r>
            <a:r>
              <a:rPr lang="nl-BE" dirty="0" err="1"/>
              <a:t>transparency</a:t>
            </a:r>
            <a:r>
              <a:rPr lang="nl-BE" dirty="0"/>
              <a:t>, </a:t>
            </a:r>
            <a:r>
              <a:rPr lang="nl-BE" dirty="0" err="1"/>
              <a:t>and</a:t>
            </a:r>
            <a:r>
              <a:rPr lang="nl-BE" dirty="0"/>
              <a:t> </a:t>
            </a:r>
            <a:r>
              <a:rPr lang="nl-BE" dirty="0" err="1"/>
              <a:t>regular</a:t>
            </a:r>
            <a:r>
              <a:rPr lang="nl-BE" dirty="0"/>
              <a:t> bias assessments.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7038514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94531-6AEB-4C9C-45B0-B869CEE81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D919C-EEB5-0F6D-4B54-A5723B808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Bias is often linked to preset notions that are continuously confirmed because we choose to ignore all information that doesn’t confirm our information</a:t>
            </a:r>
          </a:p>
          <a:p>
            <a:pPr lvl="1"/>
            <a:r>
              <a:rPr lang="en-US" dirty="0"/>
              <a:t>You wore a blue shirt and all of the sudden everybody is wearing a blue shirt!</a:t>
            </a:r>
          </a:p>
          <a:p>
            <a:r>
              <a:rPr lang="en-US" dirty="0"/>
              <a:t>This often ends up in our data, and it’s something to be aware of, but not something we can easily solve</a:t>
            </a:r>
          </a:p>
          <a:p>
            <a:pPr lvl="1"/>
            <a:r>
              <a:rPr lang="en-US" dirty="0"/>
              <a:t>Fairness-Constrained Optimization: Add fairness metrics (like demographic parity, equal opportunity) as constraints in the loss function.</a:t>
            </a:r>
          </a:p>
          <a:p>
            <a:pPr lvl="1"/>
            <a:r>
              <a:rPr lang="en-US" dirty="0"/>
              <a:t>Adversarial Debiasing: Train the model to make predictions while simultaneously trying to prevent it from encoding sensitive information.</a:t>
            </a:r>
          </a:p>
          <a:p>
            <a:pPr lvl="1"/>
            <a:r>
              <a:rPr lang="en-US" dirty="0"/>
              <a:t>Prejudice Remover </a:t>
            </a:r>
            <a:r>
              <a:rPr lang="en-US" dirty="0" err="1"/>
              <a:t>Regularizer</a:t>
            </a:r>
            <a:r>
              <a:rPr lang="en-US" dirty="0"/>
              <a:t>: Penalize the model for using sensitive attributes in predictions.</a:t>
            </a:r>
          </a:p>
          <a:p>
            <a:pPr lvl="1"/>
            <a:r>
              <a:rPr lang="en-US" dirty="0"/>
              <a:t>Use explainable AI (XAI) tools like SHAP or LIME to detect biased reasoning.</a:t>
            </a:r>
          </a:p>
          <a:p>
            <a:r>
              <a:rPr lang="en-US" dirty="0"/>
              <a:t>It’s the reason the EU has rules on when to use AI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4E398-B5D9-FAAC-9C4A-9FC228338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987416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3202F-2C53-0B9F-881C-488D322D8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we can handle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8E126-FFEE-CEE8-9538-89F1BCEA5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want to detect fraudulent transactions, but only 1% of the data is fraudulent</a:t>
            </a:r>
          </a:p>
          <a:p>
            <a:r>
              <a:rPr lang="en-US" dirty="0"/>
              <a:t>We want to train the “what animal is on the savannah”, but the data is:</a:t>
            </a:r>
          </a:p>
          <a:p>
            <a:pPr lvl="1"/>
            <a:r>
              <a:rPr lang="en-US" dirty="0"/>
              <a:t>50 zebras, 40 wildebeests, 70 antelopes, 2 leopards</a:t>
            </a:r>
          </a:p>
          <a:p>
            <a:r>
              <a:rPr lang="en-US" dirty="0"/>
              <a:t>A model that ignores leopards can get an accuracy of 98,8%</a:t>
            </a:r>
          </a:p>
          <a:p>
            <a:r>
              <a:rPr lang="en-US" dirty="0"/>
              <a:t>Solution:</a:t>
            </a:r>
          </a:p>
          <a:p>
            <a:pPr lvl="1"/>
            <a:r>
              <a:rPr lang="en-US" dirty="0"/>
              <a:t>Get more data</a:t>
            </a:r>
          </a:p>
          <a:p>
            <a:pPr lvl="1"/>
            <a:r>
              <a:rPr lang="en-US" dirty="0"/>
              <a:t>Weight the observations (leopards get more weight than the others)</a:t>
            </a:r>
          </a:p>
          <a:p>
            <a:pPr lvl="1"/>
            <a:r>
              <a:rPr lang="en-US" dirty="0"/>
              <a:t>Use a propensity score (make sure leopards are selected more when training)</a:t>
            </a:r>
          </a:p>
          <a:p>
            <a:pPr lvl="1"/>
            <a:r>
              <a:rPr lang="en-US" dirty="0"/>
              <a:t>Simulate our augment missing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E461E-A08A-AC1C-6B96-6B253E826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936735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9096E-4691-46A5-3F17-5E49D4337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Snoop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35687-7EB6-FD81-6EA7-C8EAAAB65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When information from the test dataset accidentally influences the training process</a:t>
            </a:r>
          </a:p>
          <a:p>
            <a:pPr lvl="1"/>
            <a:r>
              <a:rPr lang="en-BE" dirty="0"/>
              <a:t>L</a:t>
            </a:r>
            <a:r>
              <a:rPr lang="en-US" dirty="0" err="1"/>
              <a:t>etting</a:t>
            </a:r>
            <a:r>
              <a:rPr lang="en-US" dirty="0"/>
              <a:t> the model "cheat" by learning patterns it should not know in advance</a:t>
            </a:r>
          </a:p>
          <a:p>
            <a:pPr lvl="1"/>
            <a:r>
              <a:rPr lang="en-US" dirty="0"/>
              <a:t>Often leads to performance results that seem overly optimistic</a:t>
            </a:r>
          </a:p>
          <a:p>
            <a:pPr lvl="1"/>
            <a:r>
              <a:rPr lang="en-US" dirty="0"/>
              <a:t>These results are misleading: when the model encounters fresh, unseen data in practical applications (inference), it stumbles because it has essentially memorized the test data</a:t>
            </a:r>
          </a:p>
          <a:p>
            <a:r>
              <a:rPr lang="en-US" dirty="0"/>
              <a:t>The Human Bias Risk: our own human tendency to recognize patterns can influence how we handle test datasets</a:t>
            </a:r>
          </a:p>
          <a:p>
            <a:pPr lvl="1"/>
            <a:r>
              <a:rPr lang="en-US" dirty="0"/>
              <a:t>We might unintentionally use knowledge from the test data while choosing features or selecting models</a:t>
            </a:r>
          </a:p>
          <a:p>
            <a:pPr lvl="1"/>
            <a:r>
              <a:rPr lang="en-US" dirty="0"/>
              <a:t>This seemingly harmless "peek" can skew the entire development process, resulting in a model that appears effective during testing but fails miserably in real-world applications</a:t>
            </a:r>
          </a:p>
          <a:p>
            <a:pPr lvl="1"/>
            <a:r>
              <a:rPr lang="en-US" dirty="0"/>
              <a:t>It's crucial to keep the test set entirely off-limits until the final evaluation.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D660B-F521-A25D-98F2-1EF224EC4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32261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07C8-D1C8-C51F-C3EF-B269FF249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Scaling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40836-1847-48C4-589B-4D7AEA980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problem: length is between 1.5 and 2.2, weight between 50 and 140</a:t>
            </a:r>
          </a:p>
          <a:p>
            <a:r>
              <a:rPr lang="en-US" dirty="0"/>
              <a:t>A model may see the bigger number as more important</a:t>
            </a:r>
          </a:p>
          <a:p>
            <a:r>
              <a:rPr lang="en-US" dirty="0"/>
              <a:t>Scaling: adjust range of data to fit between 0 and 1 (or something similar)</a:t>
            </a:r>
          </a:p>
          <a:p>
            <a:pPr lvl="1"/>
            <a:r>
              <a:rPr lang="en-US" dirty="0"/>
              <a:t>Min-max scaling: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Standarization</a:t>
            </a:r>
            <a:r>
              <a:rPr lang="en-US" dirty="0"/>
              <a:t>: </a:t>
            </a:r>
          </a:p>
          <a:p>
            <a:pPr lvl="1"/>
            <a:endParaRPr lang="en-US" dirty="0"/>
          </a:p>
          <a:p>
            <a:r>
              <a:rPr lang="en-US" dirty="0"/>
              <a:t>Will provide you with data that is easier for </a:t>
            </a:r>
            <a:r>
              <a:rPr lang="en-BE" dirty="0"/>
              <a:t>(some) </a:t>
            </a:r>
            <a:r>
              <a:rPr lang="en-US" dirty="0"/>
              <a:t>algorithms to compare</a:t>
            </a:r>
            <a:endParaRPr lang="en-BE" dirty="0"/>
          </a:p>
          <a:p>
            <a:pPr lvl="1"/>
            <a:r>
              <a:rPr lang="en-BE" dirty="0"/>
              <a:t>Not all algorithms need scaling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D33436-286F-C7C6-ABA0-1D43F7A11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489" y="3076526"/>
            <a:ext cx="2353003" cy="704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449D6C-83B1-3D05-171E-3D6029BB0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489" y="3863928"/>
            <a:ext cx="2133898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941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6797E-5CAD-DCE4-7B22-07F236509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79A20-D708-9509-D901-53BFE473B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is it needed</a:t>
            </a:r>
            <a:r>
              <a:rPr lang="en-BE" dirty="0"/>
              <a:t>? T</a:t>
            </a:r>
            <a:r>
              <a:rPr lang="en-US" dirty="0"/>
              <a:t>he data is in separate columns after all…</a:t>
            </a:r>
          </a:p>
          <a:p>
            <a:r>
              <a:rPr lang="en-US" dirty="0"/>
              <a:t>Yes:</a:t>
            </a:r>
          </a:p>
          <a:p>
            <a:pPr lvl="1"/>
            <a:r>
              <a:rPr lang="en-US" dirty="0"/>
              <a:t>K-Nearest Neighbors (KNN): Uses Euclidean distance; scale matters directly</a:t>
            </a:r>
          </a:p>
          <a:p>
            <a:pPr lvl="1"/>
            <a:r>
              <a:rPr lang="en-US" dirty="0"/>
              <a:t>SVM: Hyperplane depends on distance metrics</a:t>
            </a:r>
          </a:p>
          <a:p>
            <a:pPr lvl="1"/>
            <a:r>
              <a:rPr lang="en-US" dirty="0"/>
              <a:t>Logistic Regression: Faster convergence, better regularization</a:t>
            </a:r>
          </a:p>
          <a:p>
            <a:pPr lvl="1"/>
            <a:r>
              <a:rPr lang="en-US" dirty="0"/>
              <a:t>Gradient Descent (e.g., in neural nets): Helps gradient flow and training speed</a:t>
            </a:r>
          </a:p>
          <a:p>
            <a:r>
              <a:rPr lang="en-US" dirty="0"/>
              <a:t>No:</a:t>
            </a:r>
          </a:p>
          <a:p>
            <a:pPr lvl="1"/>
            <a:r>
              <a:rPr lang="en-US" dirty="0"/>
              <a:t>Tree-based models: Splits are based on feature thresholds, not distance</a:t>
            </a:r>
          </a:p>
          <a:p>
            <a:pPr lvl="1"/>
            <a:r>
              <a:rPr lang="en-US" dirty="0"/>
              <a:t>Naive Bayes: Works with probabilities, not distances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1902F-7383-53F9-E038-A23A678BC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899503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611AB-45F0-4BB2-DD3C-84AE54C4A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4A9D5-44C8-B1A0-BA67-38768A2FB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7900895" cy="462606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 titanic, what’s the difference between “Miss” and “Mrs.”? And what is a “Master.”?</a:t>
            </a:r>
          </a:p>
          <a:p>
            <a:r>
              <a:rPr lang="en-US" dirty="0"/>
              <a:t>Feature engineering: creating, selecting, transforming, or encoding data into formats that maximize a model’s ability to learn patterns</a:t>
            </a:r>
          </a:p>
          <a:p>
            <a:r>
              <a:rPr lang="en-US" dirty="0"/>
              <a:t>Example</a:t>
            </a:r>
          </a:p>
          <a:p>
            <a:r>
              <a:rPr lang="en-US" dirty="0"/>
              <a:t>Suppose you're building a model to predict customer churn. Raw data might include:</a:t>
            </a:r>
          </a:p>
          <a:p>
            <a:pPr lvl="1"/>
            <a:r>
              <a:rPr lang="en-US" dirty="0" err="1"/>
              <a:t>last_login_date</a:t>
            </a:r>
            <a:r>
              <a:rPr lang="en-US" dirty="0"/>
              <a:t>, </a:t>
            </a:r>
            <a:r>
              <a:rPr lang="en-US" dirty="0" err="1"/>
              <a:t>total_spent</a:t>
            </a:r>
            <a:r>
              <a:rPr lang="en-US" dirty="0"/>
              <a:t>, </a:t>
            </a:r>
            <a:r>
              <a:rPr lang="en-US" dirty="0" err="1"/>
              <a:t>account_creation_date</a:t>
            </a:r>
            <a:endParaRPr lang="en-US" dirty="0"/>
          </a:p>
          <a:p>
            <a:r>
              <a:rPr lang="en-US" dirty="0"/>
              <a:t>Feature engineering could turn this into:</a:t>
            </a:r>
          </a:p>
          <a:p>
            <a:pPr lvl="1"/>
            <a:r>
              <a:rPr lang="en-US" dirty="0" err="1"/>
              <a:t>days_since_last_login</a:t>
            </a:r>
            <a:r>
              <a:rPr lang="en-US" dirty="0"/>
              <a:t>, </a:t>
            </a:r>
            <a:r>
              <a:rPr lang="en-US" dirty="0" err="1"/>
              <a:t>average_spend_per_month</a:t>
            </a:r>
            <a:r>
              <a:rPr lang="en-US" dirty="0"/>
              <a:t>, </a:t>
            </a:r>
            <a:r>
              <a:rPr lang="en-US" dirty="0" err="1"/>
              <a:t>account_age_in_days</a:t>
            </a:r>
            <a:endParaRPr lang="en-US" dirty="0"/>
          </a:p>
          <a:p>
            <a:r>
              <a:rPr lang="en-US" dirty="0"/>
              <a:t>These derived features may carry much more predictive value than the raw inputs.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C839F-FB38-7139-101C-B64030571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46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B361B8-D1B7-09F7-C79C-0D03B6019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600" y="1550894"/>
            <a:ext cx="3390153" cy="318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565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0C7E-C55B-A7E4-4B5B-750FBFABF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E8DE7-1D44-5C63-CDD0-2A7A8E136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feature engineering matters</a:t>
            </a:r>
          </a:p>
          <a:p>
            <a:pPr lvl="1"/>
            <a:r>
              <a:rPr lang="en-US" dirty="0"/>
              <a:t>Boosts model accuracy</a:t>
            </a:r>
          </a:p>
          <a:p>
            <a:pPr lvl="1"/>
            <a:r>
              <a:rPr lang="en-US" dirty="0"/>
              <a:t>Helps models generalize better</a:t>
            </a:r>
          </a:p>
          <a:p>
            <a:pPr lvl="1"/>
            <a:r>
              <a:rPr lang="en-US" dirty="0"/>
              <a:t>Allows you to inject domain expertise into the model</a:t>
            </a:r>
          </a:p>
          <a:p>
            <a:pPr lvl="1"/>
            <a:r>
              <a:rPr lang="en-US" dirty="0"/>
              <a:t>Can reduce the need for complex models</a:t>
            </a:r>
          </a:p>
          <a:p>
            <a:r>
              <a:rPr lang="en-US" dirty="0"/>
              <a:t>Another example:</a:t>
            </a:r>
          </a:p>
          <a:p>
            <a:pPr lvl="1"/>
            <a:r>
              <a:rPr lang="en-US" dirty="0" err="1"/>
              <a:t>last_purchase_date</a:t>
            </a:r>
            <a:r>
              <a:rPr lang="en-US" dirty="0"/>
              <a:t>, </a:t>
            </a:r>
            <a:r>
              <a:rPr lang="en-US" dirty="0" err="1"/>
              <a:t>number_of_site_visits</a:t>
            </a:r>
            <a:r>
              <a:rPr lang="en-US" dirty="0"/>
              <a:t>, </a:t>
            </a:r>
            <a:r>
              <a:rPr lang="en-US" dirty="0" err="1"/>
              <a:t>signup_date</a:t>
            </a:r>
            <a:r>
              <a:rPr lang="en-US" dirty="0"/>
              <a:t>, </a:t>
            </a:r>
            <a:r>
              <a:rPr lang="en-US" dirty="0" err="1"/>
              <a:t>total_items_viewed</a:t>
            </a:r>
            <a:r>
              <a:rPr lang="en-US" dirty="0"/>
              <a:t>, </a:t>
            </a:r>
            <a:r>
              <a:rPr lang="en-US" dirty="0" err="1"/>
              <a:t>is_subscribed_to_newsletter</a:t>
            </a:r>
            <a:endParaRPr lang="en-US" dirty="0"/>
          </a:p>
          <a:p>
            <a:pPr lvl="1"/>
            <a:r>
              <a:rPr lang="en-US" dirty="0" err="1"/>
              <a:t>is_engaged_customer</a:t>
            </a:r>
            <a:r>
              <a:rPr lang="en-US" dirty="0"/>
              <a:t>: has made &gt;3 purchases in the last 6 months</a:t>
            </a:r>
          </a:p>
          <a:p>
            <a:pPr lvl="1"/>
            <a:r>
              <a:rPr lang="en-US" dirty="0" err="1"/>
              <a:t>views_per_visit</a:t>
            </a:r>
            <a:r>
              <a:rPr lang="en-US" dirty="0"/>
              <a:t>: </a:t>
            </a:r>
            <a:r>
              <a:rPr lang="en-US" dirty="0" err="1"/>
              <a:t>total_items_viewed</a:t>
            </a:r>
            <a:r>
              <a:rPr lang="en-US" dirty="0"/>
              <a:t> / </a:t>
            </a:r>
            <a:r>
              <a:rPr lang="en-US" dirty="0" err="1"/>
              <a:t>number_of_site_visits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BF8B2-5478-1455-64EA-AF02E0058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38881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09BE3-F824-4B30-551B-2C519F4F3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DAD59-BB77-6D59-C985-618AC8358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to do machine learning is kind of like motor repairs:</a:t>
            </a:r>
          </a:p>
          <a:p>
            <a:pPr lvl="1"/>
            <a:r>
              <a:rPr lang="en-US" dirty="0"/>
              <a:t>When learning about it in class it’s all clean and ready</a:t>
            </a:r>
          </a:p>
          <a:p>
            <a:pPr lvl="1"/>
            <a:r>
              <a:rPr lang="en-US" dirty="0"/>
              <a:t>When in the shop everything is greasy and you’ll spend more time cleaning the engine than working on it</a:t>
            </a:r>
          </a:p>
          <a:p>
            <a:r>
              <a:rPr lang="en-US" dirty="0"/>
              <a:t>This is normal, because it’s to easy to store data</a:t>
            </a:r>
          </a:p>
          <a:p>
            <a:pPr lvl="1"/>
            <a:r>
              <a:rPr lang="en-US" dirty="0"/>
              <a:t>People with a big attic rarely have an ordered attic because they don’t need to save space, they can just dump it all in there</a:t>
            </a:r>
          </a:p>
          <a:p>
            <a:r>
              <a:rPr lang="en-US" dirty="0"/>
              <a:t>A good clean will make your models better</a:t>
            </a:r>
          </a:p>
          <a:p>
            <a:r>
              <a:rPr lang="en-US" dirty="0"/>
              <a:t>Cleaning to much will make your models worse</a:t>
            </a:r>
          </a:p>
          <a:p>
            <a:pPr lvl="1"/>
            <a:r>
              <a:rPr lang="en-US" dirty="0"/>
              <a:t>Amputating</a:t>
            </a:r>
            <a:r>
              <a:rPr lang="en-BE" dirty="0"/>
              <a:t> and </a:t>
            </a:r>
            <a:r>
              <a:rPr lang="en-US" dirty="0"/>
              <a:t>imputing both have their challenges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6EB39-B165-ECCC-05DC-DD41DFB4E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08743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b0f4be1-9f1f-4328-81a6-034cc34da24b"/>
</p:tagLst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2220</TotalTime>
  <Words>4841</Words>
  <Application>Microsoft Office PowerPoint</Application>
  <PresentationFormat>Widescreen</PresentationFormat>
  <Paragraphs>724</Paragraphs>
  <Slides>48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Amasis MT Pro Medium</vt:lpstr>
      <vt:lpstr>-apple-system</vt:lpstr>
      <vt:lpstr>Arial</vt:lpstr>
      <vt:lpstr>Calibri</vt:lpstr>
      <vt:lpstr>Cambria</vt:lpstr>
      <vt:lpstr>Consolas</vt:lpstr>
      <vt:lpstr>Verdana</vt:lpstr>
      <vt:lpstr>Kantoorthema</vt:lpstr>
      <vt:lpstr>Chapter 7 – Data augmentation</vt:lpstr>
      <vt:lpstr>Data science</vt:lpstr>
      <vt:lpstr>The overlap</vt:lpstr>
      <vt:lpstr>The data science process</vt:lpstr>
      <vt:lpstr>Step 1: Obtain</vt:lpstr>
      <vt:lpstr>Step 1: Obtain</vt:lpstr>
      <vt:lpstr>Step 2: Scrub</vt:lpstr>
      <vt:lpstr>Step 2: Scrub</vt:lpstr>
      <vt:lpstr>Step 3: Explore</vt:lpstr>
      <vt:lpstr>Step 3: Explore</vt:lpstr>
      <vt:lpstr>Step 4: Model data</vt:lpstr>
      <vt:lpstr>Step 5: Interpret the data</vt:lpstr>
      <vt:lpstr>Summing up</vt:lpstr>
      <vt:lpstr>[Stolen from R]</vt:lpstr>
      <vt:lpstr>Same data, different formats</vt:lpstr>
      <vt:lpstr>3 rules for data files</vt:lpstr>
      <vt:lpstr>Does each variable have its own column?</vt:lpstr>
      <vt:lpstr>Each variable must have its own column</vt:lpstr>
      <vt:lpstr>Does each observation have its own row?</vt:lpstr>
      <vt:lpstr>Each observation must have its own row</vt:lpstr>
      <vt:lpstr>Does each value have its own cell?</vt:lpstr>
      <vt:lpstr>Each value must have its own cell</vt:lpstr>
      <vt:lpstr>Problems in data</vt:lpstr>
      <vt:lpstr>Outliers</vt:lpstr>
      <vt:lpstr>Outliers</vt:lpstr>
      <vt:lpstr>Outliers</vt:lpstr>
      <vt:lpstr>Outliers</vt:lpstr>
      <vt:lpstr>Outliers: how to handle</vt:lpstr>
      <vt:lpstr>Data skewing</vt:lpstr>
      <vt:lpstr>Data skewing</vt:lpstr>
      <vt:lpstr>Categorical data</vt:lpstr>
      <vt:lpstr>Ordinal and nominal</vt:lpstr>
      <vt:lpstr>One hot encoding</vt:lpstr>
      <vt:lpstr>Missing values</vt:lpstr>
      <vt:lpstr>Missing values: Amputation</vt:lpstr>
      <vt:lpstr>Missing values: Imputing</vt:lpstr>
      <vt:lpstr>Missing values: Imputing</vt:lpstr>
      <vt:lpstr>PowerPoint Presentation</vt:lpstr>
      <vt:lpstr>Bias</vt:lpstr>
      <vt:lpstr>Bias</vt:lpstr>
      <vt:lpstr>Bias</vt:lpstr>
      <vt:lpstr>Bias we can handle</vt:lpstr>
      <vt:lpstr>Snoop Bias</vt:lpstr>
      <vt:lpstr>Scaling</vt:lpstr>
      <vt:lpstr>Scaling</vt:lpstr>
      <vt:lpstr>Feature engineering</vt:lpstr>
      <vt:lpstr>Feature engineering</vt:lpstr>
      <vt:lpstr>Summary</vt:lpstr>
    </vt:vector>
  </TitlesOfParts>
  <Company>Thomas More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Christel Maes</dc:creator>
  <cp:lastModifiedBy>Jochen Mariën</cp:lastModifiedBy>
  <cp:revision>53</cp:revision>
  <dcterms:created xsi:type="dcterms:W3CDTF">2018-02-21T07:41:18Z</dcterms:created>
  <dcterms:modified xsi:type="dcterms:W3CDTF">2025-10-17T09:11:14Z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2023-10-19T07:27:53Z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b68bd113-e83d-4438-ae2a-7958df77ef75</vt:lpwstr>
  </property>
  <property fmtid="{D5CDD505-2E9C-101B-9397-08002B2CF9AE}" pid="8" name="MSIP_Label_c337be75-dfbb-4261-9834-ac247c7dde13_ContentBits">
    <vt:lpwstr>0</vt:lpwstr>
  </property>
</Properties>
</file>